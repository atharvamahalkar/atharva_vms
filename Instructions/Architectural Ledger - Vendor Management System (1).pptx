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image" Target="../media/image-6-17.png"/><Relationship Id="rId18" Type="http://schemas.openxmlformats.org/officeDocument/2006/relationships/image" Target="../media/image-6-18.png"/><Relationship Id="rId19" Type="http://schemas.openxmlformats.org/officeDocument/2006/relationships/image" Target="../media/image-6-19.png"/><Relationship Id="rId20" Type="http://schemas.openxmlformats.org/officeDocument/2006/relationships/image" Target="../media/image-6-20.png"/><Relationship Id="rId21" Type="http://schemas.openxmlformats.org/officeDocument/2006/relationships/image" Target="../media/image-6-21.png"/><Relationship Id="rId22" Type="http://schemas.openxmlformats.org/officeDocument/2006/relationships/image" Target="../media/image-6-22.pn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image" Target="../media/image-7-15.png"/><Relationship Id="rId16" Type="http://schemas.openxmlformats.org/officeDocument/2006/relationships/image" Target="../media/image-7-16.png"/><Relationship Id="rId17" Type="http://schemas.openxmlformats.org/officeDocument/2006/relationships/image" Target="../media/image-7-17.png"/><Relationship Id="rId18" Type="http://schemas.openxmlformats.org/officeDocument/2006/relationships/image" Target="../media/image-7-18.png"/><Relationship Id="rId19" Type="http://schemas.openxmlformats.org/officeDocument/2006/relationships/image" Target="../media/image-7-19.png"/><Relationship Id="rId20" Type="http://schemas.openxmlformats.org/officeDocument/2006/relationships/image" Target="../media/image-7-20.png"/><Relationship Id="rId21" Type="http://schemas.openxmlformats.org/officeDocument/2006/relationships/image" Target="../media/image-7-21.png"/><Relationship Id="rId22" Type="http://schemas.openxmlformats.org/officeDocument/2006/relationships/image" Target="../media/image-7-22.png"/><Relationship Id="rId23" Type="http://schemas.openxmlformats.org/officeDocument/2006/relationships/image" Target="../media/image-7-23.png"/><Relationship Id="rId24" Type="http://schemas.openxmlformats.org/officeDocument/2006/relationships/image" Target="../media/image-7-24.png"/><Relationship Id="rId25" Type="http://schemas.openxmlformats.org/officeDocument/2006/relationships/image" Target="../media/image-7-25.png"/><Relationship Id="rId26" Type="http://schemas.openxmlformats.org/officeDocument/2006/relationships/image" Target="../media/image-7-26.png"/><Relationship Id="rId27" Type="http://schemas.openxmlformats.org/officeDocument/2006/relationships/image" Target="../media/image-7-27.png"/><Relationship Id="rId28" Type="http://schemas.openxmlformats.org/officeDocument/2006/relationships/slideLayout" Target="../slideLayouts/slideLayout1.xml"/><Relationship Id="rId2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image" Target="../media/image-10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png"/><Relationship Id="rId19" Type="http://schemas.openxmlformats.org/officeDocument/2006/relationships/image" Target="../media/image-11-19.png"/><Relationship Id="rId20" Type="http://schemas.openxmlformats.org/officeDocument/2006/relationships/image" Target="../media/image-11-20.png"/><Relationship Id="rId21" Type="http://schemas.openxmlformats.org/officeDocument/2006/relationships/image" Target="../media/image-11-21.png"/><Relationship Id="rId22" Type="http://schemas.openxmlformats.org/officeDocument/2006/relationships/image" Target="../media/image-11-22.png"/><Relationship Id="rId23" Type="http://schemas.openxmlformats.org/officeDocument/2006/relationships/image" Target="../media/image-11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png"/><Relationship Id="rId17" Type="http://schemas.openxmlformats.org/officeDocument/2006/relationships/image" Target="../media/image-13-17.png"/><Relationship Id="rId18" Type="http://schemas.openxmlformats.org/officeDocument/2006/relationships/image" Target="../media/image-13-18.png"/><Relationship Id="rId19" Type="http://schemas.openxmlformats.org/officeDocument/2006/relationships/slideLayout" Target="../slideLayouts/slideLayout1.xml"/><Relationship Id="rId20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6475" y="561975"/>
            <a:ext cx="1733550" cy="17335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3990975"/>
            <a:ext cx="1733550" cy="17335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714375"/>
            <a:ext cx="638175" cy="64770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3943350" y="633413"/>
            <a:ext cx="5542598" cy="890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0" b="1" dirty="0">
                <a:solidFill>
                  <a:srgbClr val="8195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Architectural</a:t>
            </a:r>
            <a:endParaRPr lang="en-US" sz="5700" dirty="0"/>
          </a:p>
        </p:txBody>
      </p:sp>
      <p:sp>
        <p:nvSpPr>
          <p:cNvPr id="9" name="Text 1"/>
          <p:cNvSpPr/>
          <p:nvPr/>
        </p:nvSpPr>
        <p:spPr>
          <a:xfrm>
            <a:off x="3209925" y="1524000"/>
            <a:ext cx="6349365" cy="890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7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Ledger</a:t>
            </a:r>
            <a:endParaRPr lang="en-US" sz="5700" dirty="0"/>
          </a:p>
        </p:txBody>
      </p:sp>
      <p:sp>
        <p:nvSpPr>
          <p:cNvPr id="10" name="Text 2"/>
          <p:cNvSpPr/>
          <p:nvPr/>
        </p:nvSpPr>
        <p:spPr>
          <a:xfrm>
            <a:off x="3643313" y="2566988"/>
            <a:ext cx="53959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A5565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Vendor Management System Portal</a:t>
            </a:r>
            <a:endParaRPr lang="en-US" sz="2000" dirty="0"/>
          </a:p>
        </p:txBody>
      </p:sp>
      <p:sp>
        <p:nvSpPr>
          <p:cNvPr id="11" name="Text 3"/>
          <p:cNvSpPr/>
          <p:nvPr/>
        </p:nvSpPr>
        <p:spPr>
          <a:xfrm>
            <a:off x="2338388" y="3138488"/>
            <a:ext cx="1419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Application</a:t>
            </a:r>
            <a:endParaRPr lang="en-US" sz="1200" dirty="0"/>
          </a:p>
        </p:txBody>
      </p:sp>
      <p:sp>
        <p:nvSpPr>
          <p:cNvPr id="12" name="Text 4"/>
          <p:cNvSpPr/>
          <p:nvPr/>
        </p:nvSpPr>
        <p:spPr>
          <a:xfrm>
            <a:off x="3833812" y="3138488"/>
            <a:ext cx="47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9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13" name="Text 5"/>
          <p:cNvSpPr/>
          <p:nvPr/>
        </p:nvSpPr>
        <p:spPr>
          <a:xfrm>
            <a:off x="3957638" y="3138488"/>
            <a:ext cx="1133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Pipeline</a:t>
            </a:r>
            <a:endParaRPr lang="en-US" sz="1200" dirty="0"/>
          </a:p>
        </p:txBody>
      </p:sp>
      <p:sp>
        <p:nvSpPr>
          <p:cNvPr id="14" name="Text 6"/>
          <p:cNvSpPr/>
          <p:nvPr/>
        </p:nvSpPr>
        <p:spPr>
          <a:xfrm>
            <a:off x="5167313" y="3138488"/>
            <a:ext cx="47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9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15" name="Text 7"/>
          <p:cNvSpPr/>
          <p:nvPr/>
        </p:nvSpPr>
        <p:spPr>
          <a:xfrm>
            <a:off x="5291138" y="3138488"/>
            <a:ext cx="1724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Qwen:0.5B (Ollama)</a:t>
            </a:r>
            <a:endParaRPr lang="en-US" sz="1200" dirty="0"/>
          </a:p>
        </p:txBody>
      </p:sp>
      <p:sp>
        <p:nvSpPr>
          <p:cNvPr id="16" name="Text 8"/>
          <p:cNvSpPr/>
          <p:nvPr/>
        </p:nvSpPr>
        <p:spPr>
          <a:xfrm>
            <a:off x="7091363" y="3138488"/>
            <a:ext cx="47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9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17" name="Text 9"/>
          <p:cNvSpPr/>
          <p:nvPr/>
        </p:nvSpPr>
        <p:spPr>
          <a:xfrm>
            <a:off x="7215188" y="3138488"/>
            <a:ext cx="809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Pinecone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8101013" y="3138488"/>
            <a:ext cx="47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9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8224837" y="3138488"/>
            <a:ext cx="16287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A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nomic-embed-text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3341191" y="3862387"/>
            <a:ext cx="428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☕</a:t>
            </a:r>
            <a:endParaRPr lang="en-US" sz="2500" dirty="0"/>
          </a:p>
        </p:txBody>
      </p:sp>
      <p:sp>
        <p:nvSpPr>
          <p:cNvPr id="21" name="Text 13"/>
          <p:cNvSpPr/>
          <p:nvPr/>
        </p:nvSpPr>
        <p:spPr>
          <a:xfrm>
            <a:off x="2590205" y="4319588"/>
            <a:ext cx="193074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Java Application</a:t>
            </a:r>
            <a:endParaRPr lang="en-US" sz="900" dirty="0"/>
          </a:p>
        </p:txBody>
      </p:sp>
      <p:sp>
        <p:nvSpPr>
          <p:cNvPr id="22" name="Text 14"/>
          <p:cNvSpPr/>
          <p:nvPr/>
        </p:nvSpPr>
        <p:spPr>
          <a:xfrm>
            <a:off x="5881539" y="3862387"/>
            <a:ext cx="428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2500" dirty="0"/>
          </a:p>
        </p:txBody>
      </p:sp>
      <p:sp>
        <p:nvSpPr>
          <p:cNvPr id="23" name="Text 15"/>
          <p:cNvSpPr/>
          <p:nvPr/>
        </p:nvSpPr>
        <p:spPr>
          <a:xfrm>
            <a:off x="5148114" y="4319588"/>
            <a:ext cx="1895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Qwen:0.5B Ollama LLM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8421886" y="3862387"/>
            <a:ext cx="428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📐</a:t>
            </a:r>
            <a:endParaRPr lang="en-US" sz="2500" dirty="0"/>
          </a:p>
        </p:txBody>
      </p:sp>
      <p:sp>
        <p:nvSpPr>
          <p:cNvPr id="25" name="Text 17"/>
          <p:cNvSpPr/>
          <p:nvPr/>
        </p:nvSpPr>
        <p:spPr>
          <a:xfrm>
            <a:off x="7863780" y="4319588"/>
            <a:ext cx="15449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nomic-embed-text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3341191" y="4814888"/>
            <a:ext cx="428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</a:t>
            </a:r>
            <a:endParaRPr lang="en-US" sz="2500" dirty="0"/>
          </a:p>
        </p:txBody>
      </p:sp>
      <p:sp>
        <p:nvSpPr>
          <p:cNvPr id="27" name="Text 19"/>
          <p:cNvSpPr/>
          <p:nvPr/>
        </p:nvSpPr>
        <p:spPr>
          <a:xfrm>
            <a:off x="2695426" y="5272088"/>
            <a:ext cx="172030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Pinecone Vector DB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5881539" y="4814888"/>
            <a:ext cx="428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</a:t>
            </a:r>
            <a:endParaRPr lang="en-US" sz="2500" dirty="0"/>
          </a:p>
        </p:txBody>
      </p:sp>
      <p:sp>
        <p:nvSpPr>
          <p:cNvPr id="29" name="Text 21"/>
          <p:cNvSpPr/>
          <p:nvPr/>
        </p:nvSpPr>
        <p:spPr>
          <a:xfrm>
            <a:off x="5280571" y="5272088"/>
            <a:ext cx="16307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Compare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8421886" y="4814888"/>
            <a:ext cx="428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🐘</a:t>
            </a:r>
            <a:endParaRPr lang="en-US" sz="2500" dirty="0"/>
          </a:p>
        </p:txBody>
      </p:sp>
      <p:sp>
        <p:nvSpPr>
          <p:cNvPr id="31" name="Text 23"/>
          <p:cNvSpPr/>
          <p:nvPr/>
        </p:nvSpPr>
        <p:spPr>
          <a:xfrm>
            <a:off x="7686973" y="5272088"/>
            <a:ext cx="189845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Database</a:t>
            </a:r>
            <a:endParaRPr lang="en-US" sz="900" dirty="0"/>
          </a:p>
        </p:txBody>
      </p:sp>
      <p:sp>
        <p:nvSpPr>
          <p:cNvPr id="32" name="Text 24"/>
          <p:cNvSpPr/>
          <p:nvPr/>
        </p:nvSpPr>
        <p:spPr>
          <a:xfrm>
            <a:off x="1538288" y="6057900"/>
            <a:ext cx="9115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A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Atharva Abhijeet Mahalkar| Japkeerat Kaur | Prakhar Vishwakarma · Guide: Prof. Suhas Joshi · April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4225" y="657225"/>
            <a:ext cx="495300" cy="4953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3975" y="2286000"/>
            <a:ext cx="476250" cy="48577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5075" y="2286000"/>
            <a:ext cx="476250" cy="48577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3975" y="2933700"/>
            <a:ext cx="476250" cy="48577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5075" y="2933700"/>
            <a:ext cx="476250" cy="48577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3975" y="3581400"/>
            <a:ext cx="476250" cy="48577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15075" y="3581400"/>
            <a:ext cx="476250" cy="48577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23975" y="4229100"/>
            <a:ext cx="476250" cy="48577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15075" y="4229100"/>
            <a:ext cx="476250" cy="485775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23975" y="4876800"/>
            <a:ext cx="476250" cy="485775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15075" y="4876800"/>
            <a:ext cx="476250" cy="485775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9600" y="6105525"/>
            <a:ext cx="10972800" cy="47625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619125" y="619125"/>
            <a:ext cx="1204912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Catalog</a:t>
            </a:r>
            <a:endParaRPr lang="en-US" sz="3200" dirty="0"/>
          </a:p>
        </p:txBody>
      </p:sp>
      <p:sp>
        <p:nvSpPr>
          <p:cNvPr id="17" name="Text 1"/>
          <p:cNvSpPr/>
          <p:nvPr/>
        </p:nvSpPr>
        <p:spPr>
          <a:xfrm>
            <a:off x="619125" y="1266825"/>
            <a:ext cx="12049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28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Architectural Ledger: Vendor Management System Portal</a:t>
            </a:r>
            <a:endParaRPr lang="en-US" sz="1200" dirty="0"/>
          </a:p>
        </p:txBody>
      </p:sp>
      <p:sp>
        <p:nvSpPr>
          <p:cNvPr id="18" name="Text 2"/>
          <p:cNvSpPr/>
          <p:nvPr/>
        </p:nvSpPr>
        <p:spPr>
          <a:xfrm>
            <a:off x="1471613" y="2396282"/>
            <a:ext cx="18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9" name="Text 3"/>
          <p:cNvSpPr/>
          <p:nvPr/>
        </p:nvSpPr>
        <p:spPr>
          <a:xfrm>
            <a:off x="1943100" y="2422475"/>
            <a:ext cx="19050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Problem Statement</a:t>
            </a:r>
            <a:endParaRPr lang="en-US" sz="1200" dirty="0"/>
          </a:p>
        </p:txBody>
      </p:sp>
      <p:sp>
        <p:nvSpPr>
          <p:cNvPr id="20" name="Text 4"/>
          <p:cNvSpPr/>
          <p:nvPr/>
        </p:nvSpPr>
        <p:spPr>
          <a:xfrm>
            <a:off x="6443663" y="2396282"/>
            <a:ext cx="219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1" name="Text 5"/>
          <p:cNvSpPr/>
          <p:nvPr/>
        </p:nvSpPr>
        <p:spPr>
          <a:xfrm>
            <a:off x="6934200" y="2422475"/>
            <a:ext cx="231457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Application Screenshots</a:t>
            </a:r>
            <a:endParaRPr lang="en-US" sz="1200" dirty="0"/>
          </a:p>
        </p:txBody>
      </p:sp>
      <p:sp>
        <p:nvSpPr>
          <p:cNvPr id="22" name="Text 6"/>
          <p:cNvSpPr/>
          <p:nvPr/>
        </p:nvSpPr>
        <p:spPr>
          <a:xfrm>
            <a:off x="1452563" y="3043982"/>
            <a:ext cx="219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23" name="Text 7"/>
          <p:cNvSpPr/>
          <p:nvPr/>
        </p:nvSpPr>
        <p:spPr>
          <a:xfrm>
            <a:off x="1943100" y="3070175"/>
            <a:ext cx="30194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System Architecture (100% Java)</a:t>
            </a:r>
            <a:endParaRPr lang="en-US" sz="1200" dirty="0"/>
          </a:p>
        </p:txBody>
      </p:sp>
      <p:sp>
        <p:nvSpPr>
          <p:cNvPr id="24" name="Text 8"/>
          <p:cNvSpPr/>
          <p:nvPr/>
        </p:nvSpPr>
        <p:spPr>
          <a:xfrm>
            <a:off x="6443663" y="3043982"/>
            <a:ext cx="219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25" name="Text 9"/>
          <p:cNvSpPr/>
          <p:nvPr/>
        </p:nvSpPr>
        <p:spPr>
          <a:xfrm>
            <a:off x="6934200" y="3070175"/>
            <a:ext cx="105727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Use Cases</a:t>
            </a:r>
            <a:endParaRPr lang="en-US" sz="1200" dirty="0"/>
          </a:p>
        </p:txBody>
      </p:sp>
      <p:sp>
        <p:nvSpPr>
          <p:cNvPr id="26" name="Text 10"/>
          <p:cNvSpPr/>
          <p:nvPr/>
        </p:nvSpPr>
        <p:spPr>
          <a:xfrm>
            <a:off x="1452563" y="3691682"/>
            <a:ext cx="219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7" name="Text 11"/>
          <p:cNvSpPr/>
          <p:nvPr/>
        </p:nvSpPr>
        <p:spPr>
          <a:xfrm>
            <a:off x="1943100" y="3717875"/>
            <a:ext cx="28003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RAG Pipeline Implementation</a:t>
            </a:r>
            <a:endParaRPr lang="en-US" sz="1200" dirty="0"/>
          </a:p>
        </p:txBody>
      </p:sp>
      <p:sp>
        <p:nvSpPr>
          <p:cNvPr id="28" name="Text 12"/>
          <p:cNvSpPr/>
          <p:nvPr/>
        </p:nvSpPr>
        <p:spPr>
          <a:xfrm>
            <a:off x="6438900" y="3691682"/>
            <a:ext cx="228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29" name="Text 13"/>
          <p:cNvSpPr/>
          <p:nvPr/>
        </p:nvSpPr>
        <p:spPr>
          <a:xfrm>
            <a:off x="6934200" y="3717875"/>
            <a:ext cx="220027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Challenges &amp; Solutions</a:t>
            </a:r>
            <a:endParaRPr lang="en-US" sz="1200" dirty="0"/>
          </a:p>
        </p:txBody>
      </p:sp>
      <p:sp>
        <p:nvSpPr>
          <p:cNvPr id="30" name="Text 14"/>
          <p:cNvSpPr/>
          <p:nvPr/>
        </p:nvSpPr>
        <p:spPr>
          <a:xfrm>
            <a:off x="1447800" y="4339382"/>
            <a:ext cx="228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31" name="Text 15"/>
          <p:cNvSpPr/>
          <p:nvPr/>
        </p:nvSpPr>
        <p:spPr>
          <a:xfrm>
            <a:off x="1943100" y="4365575"/>
            <a:ext cx="20288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Tools &amp; Technologies</a:t>
            </a:r>
            <a:endParaRPr lang="en-US" sz="1200" dirty="0"/>
          </a:p>
        </p:txBody>
      </p:sp>
      <p:sp>
        <p:nvSpPr>
          <p:cNvPr id="32" name="Text 16"/>
          <p:cNvSpPr/>
          <p:nvPr/>
        </p:nvSpPr>
        <p:spPr>
          <a:xfrm>
            <a:off x="6443663" y="4339382"/>
            <a:ext cx="219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33" name="Text 17"/>
          <p:cNvSpPr/>
          <p:nvPr/>
        </p:nvSpPr>
        <p:spPr>
          <a:xfrm>
            <a:off x="6934200" y="4365575"/>
            <a:ext cx="136207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Future Scope</a:t>
            </a:r>
            <a:endParaRPr lang="en-US" sz="1200" dirty="0"/>
          </a:p>
        </p:txBody>
      </p:sp>
      <p:sp>
        <p:nvSpPr>
          <p:cNvPr id="34" name="Text 18"/>
          <p:cNvSpPr/>
          <p:nvPr/>
        </p:nvSpPr>
        <p:spPr>
          <a:xfrm>
            <a:off x="1452563" y="4987082"/>
            <a:ext cx="219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35" name="Text 19"/>
          <p:cNvSpPr/>
          <p:nvPr/>
        </p:nvSpPr>
        <p:spPr>
          <a:xfrm>
            <a:off x="1943100" y="5013275"/>
            <a:ext cx="16192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Project Modules</a:t>
            </a:r>
            <a:endParaRPr lang="en-US" sz="1200" dirty="0"/>
          </a:p>
        </p:txBody>
      </p:sp>
      <p:sp>
        <p:nvSpPr>
          <p:cNvPr id="36" name="Text 20"/>
          <p:cNvSpPr/>
          <p:nvPr/>
        </p:nvSpPr>
        <p:spPr>
          <a:xfrm>
            <a:off x="6462713" y="4987082"/>
            <a:ext cx="180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37" name="Text 21"/>
          <p:cNvSpPr/>
          <p:nvPr/>
        </p:nvSpPr>
        <p:spPr>
          <a:xfrm>
            <a:off x="6934200" y="5013275"/>
            <a:ext cx="12382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Conclusion</a:t>
            </a:r>
            <a:endParaRPr lang="en-US" sz="1200" dirty="0"/>
          </a:p>
        </p:txBody>
      </p:sp>
      <p:sp>
        <p:nvSpPr>
          <p:cNvPr id="38" name="Text 22"/>
          <p:cNvSpPr/>
          <p:nvPr/>
        </p:nvSpPr>
        <p:spPr>
          <a:xfrm>
            <a:off x="619125" y="6354663"/>
            <a:ext cx="9115425" cy="217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A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Atharva Abhijeet Mahalkar| Japkeerat Kaur | Prakhar Vishwakarma · Guide: Prof. Suhas Joshi · April 2026</a:t>
            </a:r>
            <a:endParaRPr lang="en-US" sz="1100" dirty="0"/>
          </a:p>
        </p:txBody>
      </p:sp>
      <p:sp>
        <p:nvSpPr>
          <p:cNvPr id="39" name="Text 23"/>
          <p:cNvSpPr/>
          <p:nvPr/>
        </p:nvSpPr>
        <p:spPr>
          <a:xfrm>
            <a:off x="11410950" y="6368207"/>
            <a:ext cx="161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" y="1781175"/>
            <a:ext cx="5353050" cy="41529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975" y="2895600"/>
            <a:ext cx="95250" cy="10477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975" y="3533775"/>
            <a:ext cx="95250" cy="10477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975" y="4324350"/>
            <a:ext cx="95250" cy="952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2975" y="5105400"/>
            <a:ext cx="95250" cy="10477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6975" y="1781175"/>
            <a:ext cx="5353050" cy="415290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7975" y="2752725"/>
            <a:ext cx="95250" cy="952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57975" y="3257550"/>
            <a:ext cx="95250" cy="10477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57975" y="4038600"/>
            <a:ext cx="95250" cy="104775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57975" y="4552950"/>
            <a:ext cx="95250" cy="952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1975" y="6143625"/>
            <a:ext cx="11068050" cy="476250"/>
          </a:xfrm>
          <a:prstGeom prst="rect">
            <a:avLst/>
          </a:prstGeom>
        </p:spPr>
      </p:pic>
      <p:sp>
        <p:nvSpPr>
          <p:cNvPr id="15" name="Text 0"/>
          <p:cNvSpPr/>
          <p:nvPr/>
        </p:nvSpPr>
        <p:spPr>
          <a:xfrm>
            <a:off x="571500" y="571500"/>
            <a:ext cx="121539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16" name="Text 1"/>
          <p:cNvSpPr/>
          <p:nvPr/>
        </p:nvSpPr>
        <p:spPr>
          <a:xfrm>
            <a:off x="571500" y="1219200"/>
            <a:ext cx="1215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A728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Identifying Core Business and Technical Challenges</a:t>
            </a:r>
            <a:endParaRPr lang="en-US" sz="1200" dirty="0"/>
          </a:p>
        </p:txBody>
      </p:sp>
      <p:sp>
        <p:nvSpPr>
          <p:cNvPr id="17" name="Text 2"/>
          <p:cNvSpPr/>
          <p:nvPr/>
        </p:nvSpPr>
        <p:spPr>
          <a:xfrm>
            <a:off x="1447800" y="2143125"/>
            <a:ext cx="211645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Business Problem</a:t>
            </a:r>
            <a:endParaRPr lang="en-US" sz="1700" dirty="0"/>
          </a:p>
        </p:txBody>
      </p:sp>
      <p:pic>
        <p:nvPicPr>
          <p:cNvPr id="1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42975" y="2085975"/>
            <a:ext cx="400050" cy="400050"/>
          </a:xfrm>
          <a:prstGeom prst="rect">
            <a:avLst/>
          </a:prstGeom>
        </p:spPr>
      </p:pic>
      <p:sp>
        <p:nvSpPr>
          <p:cNvPr id="19" name="Text 3"/>
          <p:cNvSpPr/>
          <p:nvPr/>
        </p:nvSpPr>
        <p:spPr>
          <a:xfrm>
            <a:off x="952500" y="2095500"/>
            <a:ext cx="419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highlight>
                  <a:srgbClr val="8195FF"/>
                </a:highlight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01</a:t>
            </a:r>
            <a:endParaRPr lang="en-US" sz="900" dirty="0"/>
          </a:p>
        </p:txBody>
      </p:sp>
      <p:sp>
        <p:nvSpPr>
          <p:cNvPr id="20" name="Text 4"/>
          <p:cNvSpPr/>
          <p:nvPr/>
        </p:nvSpPr>
        <p:spPr>
          <a:xfrm>
            <a:off x="1143000" y="2705100"/>
            <a:ext cx="44577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contracts scattered — no central searchable store</a:t>
            </a:r>
            <a:endParaRPr lang="en-US" sz="1200" dirty="0"/>
          </a:p>
        </p:txBody>
      </p:sp>
      <p:sp>
        <p:nvSpPr>
          <p:cNvPr id="21" name="Text 5"/>
          <p:cNvSpPr/>
          <p:nvPr/>
        </p:nvSpPr>
        <p:spPr>
          <a:xfrm>
            <a:off x="1143000" y="3490913"/>
            <a:ext cx="44577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Extracting specific clauses requires reading full documents</a:t>
            </a:r>
            <a:endParaRPr lang="en-US" sz="1200" dirty="0"/>
          </a:p>
        </p:txBody>
      </p:sp>
      <p:sp>
        <p:nvSpPr>
          <p:cNvPr id="22" name="Text 6"/>
          <p:cNvSpPr/>
          <p:nvPr/>
        </p:nvSpPr>
        <p:spPr>
          <a:xfrm>
            <a:off x="1143000" y="4276725"/>
            <a:ext cx="44577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automated contract comparison for risk assessment</a:t>
            </a:r>
            <a:endParaRPr lang="en-US" sz="1200" dirty="0"/>
          </a:p>
        </p:txBody>
      </p:sp>
      <p:sp>
        <p:nvSpPr>
          <p:cNvPr id="23" name="Text 7"/>
          <p:cNvSpPr/>
          <p:nvPr/>
        </p:nvSpPr>
        <p:spPr>
          <a:xfrm>
            <a:off x="1143000" y="5062538"/>
            <a:ext cx="44577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checks done manually — slow and error-prone</a:t>
            </a:r>
            <a:endParaRPr lang="en-US" sz="1200" dirty="0"/>
          </a:p>
        </p:txBody>
      </p:sp>
      <p:sp>
        <p:nvSpPr>
          <p:cNvPr id="24" name="Text 8"/>
          <p:cNvSpPr/>
          <p:nvPr/>
        </p:nvSpPr>
        <p:spPr>
          <a:xfrm>
            <a:off x="7162800" y="2143125"/>
            <a:ext cx="216884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Technical Problem</a:t>
            </a:r>
            <a:endParaRPr lang="en-US" sz="1700" dirty="0"/>
          </a:p>
        </p:txBody>
      </p:sp>
      <p:pic>
        <p:nvPicPr>
          <p:cNvPr id="2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57975" y="2085975"/>
            <a:ext cx="400050" cy="400050"/>
          </a:xfrm>
          <a:prstGeom prst="rect">
            <a:avLst/>
          </a:prstGeom>
        </p:spPr>
      </p:pic>
      <p:sp>
        <p:nvSpPr>
          <p:cNvPr id="26" name="Text 9"/>
          <p:cNvSpPr/>
          <p:nvPr/>
        </p:nvSpPr>
        <p:spPr>
          <a:xfrm>
            <a:off x="6667500" y="2095500"/>
            <a:ext cx="4191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highlight>
                  <a:srgbClr val="C7E700"/>
                </a:highlight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02</a:t>
            </a:r>
            <a:endParaRPr lang="en-US" sz="900" dirty="0"/>
          </a:p>
        </p:txBody>
      </p:sp>
      <p:sp>
        <p:nvSpPr>
          <p:cNvPr id="27" name="Text 10"/>
          <p:cNvSpPr/>
          <p:nvPr/>
        </p:nvSpPr>
        <p:spPr>
          <a:xfrm>
            <a:off x="6858000" y="2705100"/>
            <a:ext cx="371475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search fails on semantic meaning</a:t>
            </a:r>
            <a:endParaRPr lang="en-US" sz="1200" dirty="0"/>
          </a:p>
        </p:txBody>
      </p:sp>
      <p:sp>
        <p:nvSpPr>
          <p:cNvPr id="28" name="Text 11"/>
          <p:cNvSpPr/>
          <p:nvPr/>
        </p:nvSpPr>
        <p:spPr>
          <a:xfrm>
            <a:off x="6858000" y="3212306"/>
            <a:ext cx="44577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vector DB for similarity-based document retrieval</a:t>
            </a:r>
            <a:endParaRPr lang="en-US" sz="1200" dirty="0"/>
          </a:p>
        </p:txBody>
      </p:sp>
      <p:sp>
        <p:nvSpPr>
          <p:cNvPr id="29" name="Text 12"/>
          <p:cNvSpPr/>
          <p:nvPr/>
        </p:nvSpPr>
        <p:spPr>
          <a:xfrm>
            <a:off x="6858000" y="3998119"/>
            <a:ext cx="426720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LLM to generate grounded answers from docs</a:t>
            </a:r>
            <a:endParaRPr lang="en-US" sz="1200" dirty="0"/>
          </a:p>
        </p:txBody>
      </p:sp>
      <p:sp>
        <p:nvSpPr>
          <p:cNvPr id="30" name="Text 13"/>
          <p:cNvSpPr/>
          <p:nvPr/>
        </p:nvSpPr>
        <p:spPr>
          <a:xfrm>
            <a:off x="6858000" y="4505325"/>
            <a:ext cx="343852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AI APIs = privacy risk + billing cost</a:t>
            </a:r>
            <a:endParaRPr lang="en-US" sz="1200" dirty="0"/>
          </a:p>
        </p:txBody>
      </p:sp>
      <p:sp>
        <p:nvSpPr>
          <p:cNvPr id="31" name="Text 14"/>
          <p:cNvSpPr/>
          <p:nvPr/>
        </p:nvSpPr>
        <p:spPr>
          <a:xfrm>
            <a:off x="571500" y="6391275"/>
            <a:ext cx="9115425" cy="217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A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Atharva Abhijeet Mahalkar| Japkeerat Kaur | Prakhar Vishwakarma · Guide: Prof. Suhas Joshi · April 2026</a:t>
            </a:r>
            <a:endParaRPr lang="en-US" sz="1100" dirty="0"/>
          </a:p>
        </p:txBody>
      </p:sp>
      <p:sp>
        <p:nvSpPr>
          <p:cNvPr id="32" name="Text 15"/>
          <p:cNvSpPr/>
          <p:nvPr/>
        </p:nvSpPr>
        <p:spPr>
          <a:xfrm>
            <a:off x="11458575" y="6404818"/>
            <a:ext cx="161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7475" y="0"/>
            <a:ext cx="1914525" cy="191452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419725"/>
            <a:ext cx="1438275" cy="143827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675" y="1819275"/>
            <a:ext cx="5657850" cy="40386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325" y="2066925"/>
            <a:ext cx="819150" cy="8572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5019675"/>
            <a:ext cx="4933950" cy="3810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9775" y="1552575"/>
            <a:ext cx="6191250" cy="46672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8875" y="1971675"/>
            <a:ext cx="971550" cy="10477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9375" y="5038725"/>
            <a:ext cx="4972050" cy="38100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6225" y="5534025"/>
            <a:ext cx="11639550" cy="1304925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1975" y="6667500"/>
            <a:ext cx="11068050" cy="19050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571500" y="571500"/>
            <a:ext cx="121539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Beyond Keyword Search: </a:t>
            </a:r>
            <a:pPr algn="l" indent="0" marL="0">
              <a:buNone/>
            </a:pPr>
            <a:r>
              <a:rPr lang="en-US" sz="3200" b="1" dirty="0">
                <a:solidFill>
                  <a:srgbClr val="667EEA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From Finding to Understanding</a:t>
            </a:r>
            <a:endParaRPr lang="en-US" sz="3200" dirty="0"/>
          </a:p>
        </p:txBody>
      </p:sp>
      <p:pic>
        <p:nvPicPr>
          <p:cNvPr id="1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1075" y="2352675"/>
            <a:ext cx="247650" cy="247650"/>
          </a:xfrm>
          <a:prstGeom prst="rect">
            <a:avLst/>
          </a:prstGeom>
        </p:spPr>
      </p:pic>
      <p:sp>
        <p:nvSpPr>
          <p:cNvPr id="16" name="Text 1"/>
          <p:cNvSpPr/>
          <p:nvPr/>
        </p:nvSpPr>
        <p:spPr>
          <a:xfrm>
            <a:off x="1543050" y="2209800"/>
            <a:ext cx="1828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5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Old Way</a:t>
            </a:r>
            <a:endParaRPr lang="en-US" sz="1700" dirty="0"/>
          </a:p>
        </p:txBody>
      </p:sp>
      <p:sp>
        <p:nvSpPr>
          <p:cNvPr id="17" name="Text 2"/>
          <p:cNvSpPr/>
          <p:nvPr/>
        </p:nvSpPr>
        <p:spPr>
          <a:xfrm>
            <a:off x="1543050" y="25146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A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"Ctrl + F" Approach</a:t>
            </a:r>
            <a:endParaRPr lang="en-US" sz="1100" dirty="0"/>
          </a:p>
        </p:txBody>
      </p:sp>
      <p:pic>
        <p:nvPicPr>
          <p:cNvPr id="1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9625" y="2943225"/>
            <a:ext cx="190500" cy="190500"/>
          </a:xfrm>
          <a:prstGeom prst="rect">
            <a:avLst/>
          </a:prstGeom>
        </p:spPr>
      </p:pic>
      <p:sp>
        <p:nvSpPr>
          <p:cNvPr id="19" name="Text 3"/>
          <p:cNvSpPr/>
          <p:nvPr/>
        </p:nvSpPr>
        <p:spPr>
          <a:xfrm>
            <a:off x="1104900" y="2914650"/>
            <a:ext cx="388620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41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Match Only:</a:t>
            </a:r>
            <a:pPr indent="0" marL="0">
              <a:buNone/>
            </a:pPr>
            <a:r>
              <a:rPr lang="en-US" sz="1000" dirty="0">
                <a:solidFill>
                  <a:srgbClr val="3641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Finds a word, but not the meaning.</a:t>
            </a:r>
            <a:endParaRPr lang="en-US" sz="1000" dirty="0"/>
          </a:p>
        </p:txBody>
      </p:sp>
      <p:pic>
        <p:nvPicPr>
          <p:cNvPr id="2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9625" y="3248025"/>
            <a:ext cx="190500" cy="200025"/>
          </a:xfrm>
          <a:prstGeom prst="rect">
            <a:avLst/>
          </a:prstGeom>
        </p:spPr>
      </p:pic>
      <p:sp>
        <p:nvSpPr>
          <p:cNvPr id="21" name="Text 4"/>
          <p:cNvSpPr/>
          <p:nvPr/>
        </p:nvSpPr>
        <p:spPr>
          <a:xfrm>
            <a:off x="1104900" y="3224213"/>
            <a:ext cx="46291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41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Sifting:</a:t>
            </a:r>
            <a:pPr indent="0" marL="0">
              <a:buNone/>
            </a:pPr>
            <a:r>
              <a:rPr lang="en-US" sz="1000" dirty="0">
                <a:solidFill>
                  <a:srgbClr val="3641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You find 20 instances of "Payment," but you still have to read all 20 to find the actual terms.</a:t>
            </a:r>
            <a:endParaRPr lang="en-US" sz="1000" dirty="0"/>
          </a:p>
        </p:txBody>
      </p:sp>
      <p:pic>
        <p:nvPicPr>
          <p:cNvPr id="2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9625" y="3771900"/>
            <a:ext cx="190500" cy="200025"/>
          </a:xfrm>
          <a:prstGeom prst="rect">
            <a:avLst/>
          </a:prstGeom>
        </p:spPr>
      </p:pic>
      <p:sp>
        <p:nvSpPr>
          <p:cNvPr id="23" name="Text 5"/>
          <p:cNvSpPr/>
          <p:nvPr/>
        </p:nvSpPr>
        <p:spPr>
          <a:xfrm>
            <a:off x="1104900" y="3748087"/>
            <a:ext cx="43148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41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View:</a:t>
            </a:r>
            <a:pPr indent="0" marL="0">
              <a:buNone/>
            </a:pPr>
            <a:r>
              <a:rPr lang="en-US" sz="1000" dirty="0">
                <a:solidFill>
                  <a:srgbClr val="3641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Can only search one document at a time.</a:t>
            </a:r>
            <a:endParaRPr lang="en-US" sz="1000" dirty="0"/>
          </a:p>
        </p:txBody>
      </p:sp>
      <p:pic>
        <p:nvPicPr>
          <p:cNvPr id="2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9625" y="4086225"/>
            <a:ext cx="190500" cy="190500"/>
          </a:xfrm>
          <a:prstGeom prst="rect">
            <a:avLst/>
          </a:prstGeom>
        </p:spPr>
      </p:pic>
      <p:sp>
        <p:nvSpPr>
          <p:cNvPr id="25" name="Text 6"/>
          <p:cNvSpPr/>
          <p:nvPr/>
        </p:nvSpPr>
        <p:spPr>
          <a:xfrm>
            <a:off x="1104900" y="4057650"/>
            <a:ext cx="46291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41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Context:</a:t>
            </a:r>
            <a:pPr indent="0" marL="0">
              <a:buNone/>
            </a:pPr>
            <a:r>
              <a:rPr lang="en-US" sz="1000" dirty="0">
                <a:solidFill>
                  <a:srgbClr val="3641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 tells you where a word is, but not what it means in the bigger picture.</a:t>
            </a:r>
            <a:endParaRPr lang="en-US" sz="1000" dirty="0"/>
          </a:p>
        </p:txBody>
      </p:sp>
      <p:sp>
        <p:nvSpPr>
          <p:cNvPr id="26" name="Text 7"/>
          <p:cNvSpPr/>
          <p:nvPr/>
        </p:nvSpPr>
        <p:spPr>
          <a:xfrm>
            <a:off x="819150" y="5162550"/>
            <a:ext cx="4914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A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Result: </a:t>
            </a:r>
            <a:pPr indent="0" marL="0">
              <a:buNone/>
            </a:pPr>
            <a:r>
              <a:rPr lang="en-US" sz="1100" b="1" dirty="0">
                <a:solidFill>
                  <a:srgbClr val="3641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Retrieval</a:t>
            </a:r>
            <a:endParaRPr lang="en-US" sz="1100" dirty="0"/>
          </a:p>
        </p:txBody>
      </p:sp>
      <p:pic>
        <p:nvPicPr>
          <p:cNvPr id="2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600825" y="2333625"/>
            <a:ext cx="247650" cy="247650"/>
          </a:xfrm>
          <a:prstGeom prst="rect">
            <a:avLst/>
          </a:prstGeom>
        </p:spPr>
      </p:pic>
      <p:sp>
        <p:nvSpPr>
          <p:cNvPr id="28" name="Text 8"/>
          <p:cNvSpPr/>
          <p:nvPr/>
        </p:nvSpPr>
        <p:spPr>
          <a:xfrm>
            <a:off x="7162800" y="2190750"/>
            <a:ext cx="16573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New Way</a:t>
            </a:r>
            <a:endParaRPr lang="en-US" sz="1700" dirty="0"/>
          </a:p>
        </p:txBody>
      </p:sp>
      <p:sp>
        <p:nvSpPr>
          <p:cNvPr id="29" name="Text 9"/>
          <p:cNvSpPr/>
          <p:nvPr/>
        </p:nvSpPr>
        <p:spPr>
          <a:xfrm>
            <a:off x="7162800" y="2495550"/>
            <a:ext cx="1657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AI-Powered VMS</a:t>
            </a:r>
            <a:endParaRPr lang="en-US" sz="1100" dirty="0"/>
          </a:p>
        </p:txBody>
      </p:sp>
      <p:pic>
        <p:nvPicPr>
          <p:cNvPr id="3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29375" y="2924175"/>
            <a:ext cx="190500" cy="190500"/>
          </a:xfrm>
          <a:prstGeom prst="rect">
            <a:avLst/>
          </a:prstGeom>
        </p:spPr>
      </p:pic>
      <p:sp>
        <p:nvSpPr>
          <p:cNvPr id="31" name="Text 10"/>
          <p:cNvSpPr/>
          <p:nvPr/>
        </p:nvSpPr>
        <p:spPr>
          <a:xfrm>
            <a:off x="6724650" y="2895600"/>
            <a:ext cx="4667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Understanding: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Finds "Payment Terms" even if the document says "Remittance Schedule."</a:t>
            </a:r>
            <a:endParaRPr lang="en-US" sz="1000" dirty="0"/>
          </a:p>
        </p:txBody>
      </p:sp>
      <p:pic>
        <p:nvPicPr>
          <p:cNvPr id="32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29375" y="3448050"/>
            <a:ext cx="190500" cy="190500"/>
          </a:xfrm>
          <a:prstGeom prst="rect">
            <a:avLst/>
          </a:prstGeom>
        </p:spPr>
      </p:pic>
      <p:sp>
        <p:nvSpPr>
          <p:cNvPr id="33" name="Text 11"/>
          <p:cNvSpPr/>
          <p:nvPr/>
        </p:nvSpPr>
        <p:spPr>
          <a:xfrm>
            <a:off x="6724650" y="3419475"/>
            <a:ext cx="4667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Answers: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Doesn't give you a list of pages; it gives you a concise, accurate answer.</a:t>
            </a:r>
            <a:endParaRPr lang="en-US" sz="1000" dirty="0"/>
          </a:p>
        </p:txBody>
      </p:sp>
      <p:pic>
        <p:nvPicPr>
          <p:cNvPr id="34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429375" y="3971925"/>
            <a:ext cx="190500" cy="190500"/>
          </a:xfrm>
          <a:prstGeom prst="rect">
            <a:avLst/>
          </a:prstGeom>
        </p:spPr>
      </p:pic>
      <p:sp>
        <p:nvSpPr>
          <p:cNvPr id="35" name="Text 12"/>
          <p:cNvSpPr/>
          <p:nvPr/>
        </p:nvSpPr>
        <p:spPr>
          <a:xfrm>
            <a:off x="6724650" y="3943350"/>
            <a:ext cx="4667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Cross-Document Intelligence: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Analyzes contracts, invoices, and logs simultaneously.</a:t>
            </a:r>
            <a:endParaRPr lang="en-US" sz="1000" dirty="0"/>
          </a:p>
        </p:txBody>
      </p:sp>
      <p:pic>
        <p:nvPicPr>
          <p:cNvPr id="36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29375" y="4495800"/>
            <a:ext cx="190500" cy="190500"/>
          </a:xfrm>
          <a:prstGeom prst="rect">
            <a:avLst/>
          </a:prstGeom>
        </p:spPr>
      </p:pic>
      <p:sp>
        <p:nvSpPr>
          <p:cNvPr id="37" name="Text 13"/>
          <p:cNvSpPr/>
          <p:nvPr/>
        </p:nvSpPr>
        <p:spPr>
          <a:xfrm>
            <a:off x="6724650" y="4467225"/>
            <a:ext cx="46672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Contextual Synthesis: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Compares two different vendors or documents automatically.</a:t>
            </a:r>
            <a:endParaRPr lang="en-US" sz="1000" dirty="0"/>
          </a:p>
        </p:txBody>
      </p:sp>
      <p:sp>
        <p:nvSpPr>
          <p:cNvPr id="38" name="Text 14"/>
          <p:cNvSpPr/>
          <p:nvPr/>
        </p:nvSpPr>
        <p:spPr>
          <a:xfrm>
            <a:off x="6438900" y="5181600"/>
            <a:ext cx="495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AF4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Result: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Extraction</a:t>
            </a:r>
            <a:endParaRPr lang="en-US" sz="1100" dirty="0"/>
          </a:p>
        </p:txBody>
      </p:sp>
      <p:sp>
        <p:nvSpPr>
          <p:cNvPr id="39" name="Text 15"/>
          <p:cNvSpPr/>
          <p:nvPr/>
        </p:nvSpPr>
        <p:spPr>
          <a:xfrm>
            <a:off x="952500" y="5981700"/>
            <a:ext cx="113157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333333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 Ctrl + F finds the needle in the haystack. Our project explains what the needle is doing. </a:t>
            </a:r>
            <a:endParaRPr lang="en-US" sz="1500" dirty="0"/>
          </a:p>
        </p:txBody>
      </p:sp>
      <p:pic>
        <p:nvPicPr>
          <p:cNvPr id="40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371600" y="6019800"/>
            <a:ext cx="219075" cy="228600"/>
          </a:xfrm>
          <a:prstGeom prst="rect">
            <a:avLst/>
          </a:prstGeom>
        </p:spPr>
      </p:pic>
      <p:pic>
        <p:nvPicPr>
          <p:cNvPr id="41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601325" y="6019800"/>
            <a:ext cx="219075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50" y="1714500"/>
            <a:ext cx="8648700" cy="77152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650" y="2562225"/>
            <a:ext cx="8648700" cy="7810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1650" y="3419475"/>
            <a:ext cx="8648700" cy="781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1650" y="4267200"/>
            <a:ext cx="8648700" cy="781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71650" y="5124450"/>
            <a:ext cx="8648700" cy="781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975" y="6105525"/>
            <a:ext cx="11068050" cy="47625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571500" y="571500"/>
            <a:ext cx="121539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System Architecture 100% Java</a:t>
            </a:r>
            <a:endParaRPr lang="en-US" sz="3200" dirty="0"/>
          </a:p>
        </p:txBody>
      </p:sp>
      <p:sp>
        <p:nvSpPr>
          <p:cNvPr id="11" name="Text 1"/>
          <p:cNvSpPr/>
          <p:nvPr/>
        </p:nvSpPr>
        <p:spPr>
          <a:xfrm>
            <a:off x="571500" y="1219200"/>
            <a:ext cx="1215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A728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Multi-layered Architecture for Secure and Scalable Vendor Management</a:t>
            </a:r>
            <a:endParaRPr lang="en-US" sz="1200" dirty="0"/>
          </a:p>
        </p:txBody>
      </p:sp>
      <p:sp>
        <p:nvSpPr>
          <p:cNvPr id="12" name="Text 2"/>
          <p:cNvSpPr/>
          <p:nvPr/>
        </p:nvSpPr>
        <p:spPr>
          <a:xfrm>
            <a:off x="4833938" y="1866900"/>
            <a:ext cx="2562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(HTML / CSS / JS)</a:t>
            </a:r>
            <a:endParaRPr lang="en-US" sz="1200" dirty="0"/>
          </a:p>
        </p:txBody>
      </p:sp>
      <p:sp>
        <p:nvSpPr>
          <p:cNvPr id="13" name="Text 3"/>
          <p:cNvSpPr/>
          <p:nvPr/>
        </p:nvSpPr>
        <p:spPr>
          <a:xfrm>
            <a:off x="4152900" y="2133600"/>
            <a:ext cx="3924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files served by Java HTTP Server — all 6 portal pages</a:t>
            </a:r>
            <a:endParaRPr lang="en-US" sz="900" dirty="0"/>
          </a:p>
        </p:txBody>
      </p:sp>
      <p:pic>
        <p:nvPicPr>
          <p:cNvPr id="1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10275" y="2428875"/>
            <a:ext cx="171450" cy="180975"/>
          </a:xfrm>
          <a:prstGeom prst="rect">
            <a:avLst/>
          </a:prstGeom>
        </p:spPr>
      </p:pic>
      <p:sp>
        <p:nvSpPr>
          <p:cNvPr id="15" name="Text 4"/>
          <p:cNvSpPr/>
          <p:nvPr/>
        </p:nvSpPr>
        <p:spPr>
          <a:xfrm>
            <a:off x="4924425" y="2719834"/>
            <a:ext cx="2381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APPLICATION LAYER</a:t>
            </a:r>
            <a:endParaRPr lang="en-US" sz="1200" dirty="0"/>
          </a:p>
        </p:txBody>
      </p:sp>
      <p:sp>
        <p:nvSpPr>
          <p:cNvPr id="16" name="Text 5"/>
          <p:cNvSpPr/>
          <p:nvPr/>
        </p:nvSpPr>
        <p:spPr>
          <a:xfrm>
            <a:off x="4095750" y="2986534"/>
            <a:ext cx="4038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Routing, Vendor CRUD (PostgreSQL/JDBC), AI orchestration</a:t>
            </a:r>
            <a:endParaRPr lang="en-US" sz="900" dirty="0"/>
          </a:p>
        </p:txBody>
      </p:sp>
      <p:pic>
        <p:nvPicPr>
          <p:cNvPr id="1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10275" y="3286125"/>
            <a:ext cx="171450" cy="180975"/>
          </a:xfrm>
          <a:prstGeom prst="rect">
            <a:avLst/>
          </a:prstGeom>
        </p:spPr>
      </p:pic>
      <p:sp>
        <p:nvSpPr>
          <p:cNvPr id="18" name="Text 6"/>
          <p:cNvSpPr/>
          <p:nvPr/>
        </p:nvSpPr>
        <p:spPr>
          <a:xfrm>
            <a:off x="5305425" y="3572619"/>
            <a:ext cx="161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AI SERVICES</a:t>
            </a:r>
            <a:endParaRPr lang="en-US" sz="1200" dirty="0"/>
          </a:p>
        </p:txBody>
      </p:sp>
      <p:sp>
        <p:nvSpPr>
          <p:cNvPr id="19" name="Text 7"/>
          <p:cNvSpPr/>
          <p:nvPr/>
        </p:nvSpPr>
        <p:spPr>
          <a:xfrm>
            <a:off x="3538538" y="3839319"/>
            <a:ext cx="5153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IngestService · SearchService · CompareService (HTTP to Ollama &amp; Pinecone)</a:t>
            </a:r>
            <a:endParaRPr lang="en-US" sz="900" dirty="0"/>
          </a:p>
        </p:txBody>
      </p:sp>
      <p:pic>
        <p:nvPicPr>
          <p:cNvPr id="2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10275" y="4133850"/>
            <a:ext cx="171450" cy="180975"/>
          </a:xfrm>
          <a:prstGeom prst="rect">
            <a:avLst/>
          </a:prstGeom>
        </p:spPr>
      </p:pic>
      <p:sp>
        <p:nvSpPr>
          <p:cNvPr id="21" name="Text 8"/>
          <p:cNvSpPr/>
          <p:nvPr/>
        </p:nvSpPr>
        <p:spPr>
          <a:xfrm>
            <a:off x="4976813" y="4425553"/>
            <a:ext cx="2276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 (localhost:11434)</a:t>
            </a:r>
            <a:endParaRPr lang="en-US" sz="1200" dirty="0"/>
          </a:p>
        </p:txBody>
      </p:sp>
      <p:sp>
        <p:nvSpPr>
          <p:cNvPr id="22" name="Text 9"/>
          <p:cNvSpPr/>
          <p:nvPr/>
        </p:nvSpPr>
        <p:spPr>
          <a:xfrm>
            <a:off x="3738563" y="4692253"/>
            <a:ext cx="4752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Serves Qwen:0.5B (generate) + nomic-embed-text (embeddings) locally</a:t>
            </a:r>
            <a:endParaRPr lang="en-US" sz="900" dirty="0"/>
          </a:p>
        </p:txBody>
      </p:sp>
      <p:pic>
        <p:nvPicPr>
          <p:cNvPr id="2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10275" y="4991100"/>
            <a:ext cx="171450" cy="180975"/>
          </a:xfrm>
          <a:prstGeom prst="rect">
            <a:avLst/>
          </a:prstGeom>
        </p:spPr>
      </p:pic>
      <p:sp>
        <p:nvSpPr>
          <p:cNvPr id="24" name="Text 10"/>
          <p:cNvSpPr/>
          <p:nvPr/>
        </p:nvSpPr>
        <p:spPr>
          <a:xfrm>
            <a:off x="4938713" y="5278338"/>
            <a:ext cx="2352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PINECONE + POSTGRESQL</a:t>
            </a:r>
            <a:endParaRPr lang="en-US" sz="1200" dirty="0"/>
          </a:p>
        </p:txBody>
      </p:sp>
      <p:sp>
        <p:nvSpPr>
          <p:cNvPr id="25" name="Text 11"/>
          <p:cNvSpPr/>
          <p:nvPr/>
        </p:nvSpPr>
        <p:spPr>
          <a:xfrm>
            <a:off x="3567113" y="5545038"/>
            <a:ext cx="509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5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Pinecone: 768-dim vector index with namespaces | PostgreSQL: vendor data</a:t>
            </a:r>
            <a:endParaRPr lang="en-US" sz="900" dirty="0"/>
          </a:p>
        </p:txBody>
      </p:sp>
      <p:sp>
        <p:nvSpPr>
          <p:cNvPr id="26" name="Text 12"/>
          <p:cNvSpPr/>
          <p:nvPr/>
        </p:nvSpPr>
        <p:spPr>
          <a:xfrm>
            <a:off x="571500" y="6354663"/>
            <a:ext cx="9115425" cy="217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A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Atharva Abhijeet Mahalkar| Japkeerat Kaur | Prakhar Vishwakarma · Guide: Prof. Suhas Joshi · April 2026</a:t>
            </a:r>
            <a:endParaRPr lang="en-US" sz="1100" dirty="0"/>
          </a:p>
        </p:txBody>
      </p:sp>
      <p:sp>
        <p:nvSpPr>
          <p:cNvPr id="27" name="Text 13"/>
          <p:cNvSpPr/>
          <p:nvPr/>
        </p:nvSpPr>
        <p:spPr>
          <a:xfrm>
            <a:off x="11458575" y="6368207"/>
            <a:ext cx="161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" y="4943475"/>
            <a:ext cx="11068050" cy="8382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" y="6105525"/>
            <a:ext cx="11068050" cy="47625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571500" y="571500"/>
            <a:ext cx="121539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RAG Pipeline Implemented in Java</a:t>
            </a:r>
            <a:endParaRPr lang="en-US" sz="3200" dirty="0"/>
          </a:p>
        </p:txBody>
      </p:sp>
      <p:sp>
        <p:nvSpPr>
          <p:cNvPr id="7" name="Text 1"/>
          <p:cNvSpPr/>
          <p:nvPr/>
        </p:nvSpPr>
        <p:spPr>
          <a:xfrm>
            <a:off x="571500" y="1219200"/>
            <a:ext cx="1215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A728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End-to-End Document Intelligence via Local LLM and Vector Search</a:t>
            </a:r>
            <a:endParaRPr lang="en-US" sz="1200" dirty="0"/>
          </a:p>
        </p:txBody>
      </p:sp>
      <p:sp>
        <p:nvSpPr>
          <p:cNvPr id="8" name="Text 2"/>
          <p:cNvSpPr/>
          <p:nvPr/>
        </p:nvSpPr>
        <p:spPr>
          <a:xfrm>
            <a:off x="838200" y="1841450"/>
            <a:ext cx="334232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95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INGESTION (Java IngestService):</a:t>
            </a:r>
            <a:endParaRPr lang="en-US" sz="1400" dirty="0"/>
          </a:p>
        </p:txBody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1857375"/>
            <a:ext cx="209550" cy="219075"/>
          </a:xfrm>
          <a:prstGeom prst="rect">
            <a:avLst/>
          </a:prstGeom>
        </p:spPr>
      </p:pic>
      <p:pic>
        <p:nvPicPr>
          <p:cNvPr id="1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275" y="2200275"/>
            <a:ext cx="1809750" cy="885825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838200" y="2365325"/>
            <a:ext cx="14859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highlight>
                  <a:srgbClr val="F5F5F5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Upload Doc</a:t>
            </a:r>
            <a:endParaRPr lang="en-US" sz="900" dirty="0"/>
          </a:p>
        </p:txBody>
      </p:sp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19425" y="2524125"/>
            <a:ext cx="133350" cy="209550"/>
          </a:xfrm>
          <a:prstGeom prst="rect">
            <a:avLst/>
          </a:prstGeom>
        </p:spPr>
      </p:pic>
      <p:pic>
        <p:nvPicPr>
          <p:cNvPr id="1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86175" y="2200275"/>
            <a:ext cx="1809750" cy="885825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4129088" y="2456855"/>
            <a:ext cx="923925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highlight>
                  <a:srgbClr val="F5F5F5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Java chunks</a:t>
            </a:r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highlight>
                  <a:srgbClr val="F5F5F5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text (500 tok)</a:t>
            </a:r>
            <a:endParaRPr lang="en-US" sz="900" dirty="0"/>
          </a:p>
        </p:txBody>
      </p:sp>
      <p:pic>
        <p:nvPicPr>
          <p:cNvPr id="1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29325" y="2524125"/>
            <a:ext cx="133350" cy="209550"/>
          </a:xfrm>
          <a:prstGeom prst="rect">
            <a:avLst/>
          </a:prstGeom>
        </p:spPr>
      </p:pic>
      <p:pic>
        <p:nvPicPr>
          <p:cNvPr id="1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96075" y="2200275"/>
            <a:ext cx="1809750" cy="885825"/>
          </a:xfrm>
          <a:prstGeom prst="rect">
            <a:avLst/>
          </a:prstGeom>
        </p:spPr>
      </p:pic>
      <p:sp>
        <p:nvSpPr>
          <p:cNvPr id="17" name="Text 5"/>
          <p:cNvSpPr/>
          <p:nvPr/>
        </p:nvSpPr>
        <p:spPr>
          <a:xfrm>
            <a:off x="6862763" y="2456855"/>
            <a:ext cx="1476375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highlight>
                  <a:srgbClr val="F5F5F5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HTTP POST to</a:t>
            </a:r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highlight>
                  <a:srgbClr val="F5F5F5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Ollama /embeddings</a:t>
            </a:r>
            <a:endParaRPr lang="en-US" sz="900" dirty="0"/>
          </a:p>
        </p:txBody>
      </p:sp>
      <p:pic>
        <p:nvPicPr>
          <p:cNvPr id="1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39225" y="2524125"/>
            <a:ext cx="133350" cy="209550"/>
          </a:xfrm>
          <a:prstGeom prst="rect">
            <a:avLst/>
          </a:prstGeom>
        </p:spPr>
      </p:pic>
      <p:pic>
        <p:nvPicPr>
          <p:cNvPr id="1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705975" y="2200275"/>
            <a:ext cx="1809750" cy="885825"/>
          </a:xfrm>
          <a:prstGeom prst="rect">
            <a:avLst/>
          </a:prstGeom>
        </p:spPr>
      </p:pic>
      <p:sp>
        <p:nvSpPr>
          <p:cNvPr id="20" name="Text 6"/>
          <p:cNvSpPr/>
          <p:nvPr/>
        </p:nvSpPr>
        <p:spPr>
          <a:xfrm>
            <a:off x="10015538" y="2456855"/>
            <a:ext cx="1190625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highlight>
                  <a:srgbClr val="F5F5F5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HTTP POST to</a:t>
            </a:r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highlight>
                  <a:srgbClr val="F5F5F5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Pinecone /upsert</a:t>
            </a:r>
            <a:endParaRPr lang="en-US" sz="900" dirty="0"/>
          </a:p>
        </p:txBody>
      </p:sp>
      <p:sp>
        <p:nvSpPr>
          <p:cNvPr id="21" name="Text 7"/>
          <p:cNvSpPr/>
          <p:nvPr/>
        </p:nvSpPr>
        <p:spPr>
          <a:xfrm>
            <a:off x="838200" y="3327350"/>
            <a:ext cx="2986088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E7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QUERY (Java SearchService):</a:t>
            </a:r>
            <a:endParaRPr lang="en-US" sz="1400" dirty="0"/>
          </a:p>
        </p:txBody>
      </p:sp>
      <p:pic>
        <p:nvPicPr>
          <p:cNvPr id="2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1975" y="3343275"/>
            <a:ext cx="209550" cy="219075"/>
          </a:xfrm>
          <a:prstGeom prst="rect">
            <a:avLst/>
          </a:prstGeom>
        </p:spPr>
      </p:pic>
      <p:pic>
        <p:nvPicPr>
          <p:cNvPr id="2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0075" y="3686175"/>
            <a:ext cx="1619250" cy="885825"/>
          </a:xfrm>
          <a:prstGeom prst="rect">
            <a:avLst/>
          </a:prstGeom>
        </p:spPr>
      </p:pic>
      <p:sp>
        <p:nvSpPr>
          <p:cNvPr id="24" name="Text 8"/>
          <p:cNvSpPr/>
          <p:nvPr/>
        </p:nvSpPr>
        <p:spPr>
          <a:xfrm>
            <a:off x="762000" y="3851225"/>
            <a:ext cx="1295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highlight>
                  <a:srgbClr val="F5F5F5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User Query</a:t>
            </a:r>
            <a:endParaRPr lang="en-US" sz="900" dirty="0"/>
          </a:p>
        </p:txBody>
      </p:sp>
      <p:pic>
        <p:nvPicPr>
          <p:cNvPr id="2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14600" y="4010025"/>
            <a:ext cx="133350" cy="209550"/>
          </a:xfrm>
          <a:prstGeom prst="rect">
            <a:avLst/>
          </a:prstGeom>
        </p:spPr>
      </p:pic>
      <p:pic>
        <p:nvPicPr>
          <p:cNvPr id="2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43225" y="3686175"/>
            <a:ext cx="1619250" cy="885825"/>
          </a:xfrm>
          <a:prstGeom prst="rect">
            <a:avLst/>
          </a:prstGeom>
        </p:spPr>
      </p:pic>
      <p:sp>
        <p:nvSpPr>
          <p:cNvPr id="27" name="Text 9"/>
          <p:cNvSpPr/>
          <p:nvPr/>
        </p:nvSpPr>
        <p:spPr>
          <a:xfrm>
            <a:off x="3286125" y="3845719"/>
            <a:ext cx="933450" cy="5408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highlight>
                  <a:srgbClr val="F5F5F5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HTTP POST</a:t>
            </a:r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highlight>
                  <a:srgbClr val="F5F5F5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Ollama /embeddings</a:t>
            </a:r>
            <a:endParaRPr lang="en-US" sz="900" dirty="0"/>
          </a:p>
        </p:txBody>
      </p:sp>
      <p:pic>
        <p:nvPicPr>
          <p:cNvPr id="2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857750" y="4010025"/>
            <a:ext cx="133350" cy="209550"/>
          </a:xfrm>
          <a:prstGeom prst="rect">
            <a:avLst/>
          </a:prstGeom>
        </p:spPr>
      </p:pic>
      <p:pic>
        <p:nvPicPr>
          <p:cNvPr id="2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286375" y="3686175"/>
            <a:ext cx="1619250" cy="885825"/>
          </a:xfrm>
          <a:prstGeom prst="rect">
            <a:avLst/>
          </a:prstGeom>
        </p:spPr>
      </p:pic>
      <p:sp>
        <p:nvSpPr>
          <p:cNvPr id="30" name="Text 10"/>
          <p:cNvSpPr/>
          <p:nvPr/>
        </p:nvSpPr>
        <p:spPr>
          <a:xfrm>
            <a:off x="5524500" y="3942755"/>
            <a:ext cx="114300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highlight>
                  <a:srgbClr val="F5F5F5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HTTP POST</a:t>
            </a:r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highlight>
                  <a:srgbClr val="F5F5F5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Pinecone /query</a:t>
            </a:r>
            <a:endParaRPr lang="en-US" sz="900" dirty="0"/>
          </a:p>
        </p:txBody>
      </p:sp>
      <p:pic>
        <p:nvPicPr>
          <p:cNvPr id="31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00900" y="4010025"/>
            <a:ext cx="133350" cy="209550"/>
          </a:xfrm>
          <a:prstGeom prst="rect">
            <a:avLst/>
          </a:prstGeom>
        </p:spPr>
      </p:pic>
      <p:pic>
        <p:nvPicPr>
          <p:cNvPr id="32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629525" y="3686175"/>
            <a:ext cx="1619250" cy="885825"/>
          </a:xfrm>
          <a:prstGeom prst="rect">
            <a:avLst/>
          </a:prstGeom>
        </p:spPr>
      </p:pic>
      <p:sp>
        <p:nvSpPr>
          <p:cNvPr id="33" name="Text 11"/>
          <p:cNvSpPr/>
          <p:nvPr/>
        </p:nvSpPr>
        <p:spPr>
          <a:xfrm>
            <a:off x="7967662" y="3942755"/>
            <a:ext cx="942975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highlight>
                  <a:srgbClr val="F5F5F5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Build prompt</a:t>
            </a:r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highlight>
                  <a:srgbClr val="F5F5F5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in Java</a:t>
            </a:r>
            <a:endParaRPr lang="en-US" sz="900" dirty="0"/>
          </a:p>
        </p:txBody>
      </p:sp>
      <p:pic>
        <p:nvPicPr>
          <p:cNvPr id="34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544050" y="4010025"/>
            <a:ext cx="133350" cy="209550"/>
          </a:xfrm>
          <a:prstGeom prst="rect">
            <a:avLst/>
          </a:prstGeom>
        </p:spPr>
      </p:pic>
      <p:pic>
        <p:nvPicPr>
          <p:cNvPr id="35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972675" y="3686175"/>
            <a:ext cx="1619250" cy="885825"/>
          </a:xfrm>
          <a:prstGeom prst="rect">
            <a:avLst/>
          </a:prstGeom>
        </p:spPr>
      </p:pic>
      <p:sp>
        <p:nvSpPr>
          <p:cNvPr id="36" name="Text 12"/>
          <p:cNvSpPr/>
          <p:nvPr/>
        </p:nvSpPr>
        <p:spPr>
          <a:xfrm>
            <a:off x="10172700" y="3942755"/>
            <a:ext cx="1219200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highlight>
                  <a:srgbClr val="F5F5F5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HTTP POST</a:t>
            </a:r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highlight>
                  <a:srgbClr val="F5F5F5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Ollama /generate</a:t>
            </a:r>
            <a:endParaRPr lang="en-US" sz="900" dirty="0"/>
          </a:p>
        </p:txBody>
      </p:sp>
      <p:sp>
        <p:nvSpPr>
          <p:cNvPr id="37" name="Text 13"/>
          <p:cNvSpPr/>
          <p:nvPr/>
        </p:nvSpPr>
        <p:spPr>
          <a:xfrm>
            <a:off x="800100" y="5146625"/>
            <a:ext cx="10629900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9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 AI calls made from Java using </a:t>
            </a:r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HttpURLConnection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 Python, no Flask, no LangChain required. </a:t>
            </a:r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OllamaClient.java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PineconeClient.java</a:t>
            </a:r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handle all HTTP communication.</a:t>
            </a:r>
            <a:endParaRPr lang="en-US" sz="900" dirty="0"/>
          </a:p>
        </p:txBody>
      </p:sp>
      <p:sp>
        <p:nvSpPr>
          <p:cNvPr id="38" name="Text 14"/>
          <p:cNvSpPr/>
          <p:nvPr/>
        </p:nvSpPr>
        <p:spPr>
          <a:xfrm>
            <a:off x="571500" y="6354663"/>
            <a:ext cx="9115425" cy="217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A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Atharva Abhijeet Mahalkar| Japkeerat Kaur | Prakhar Vishwakarma · Guide: Prof. Suhas Joshi · April 2026</a:t>
            </a:r>
            <a:endParaRPr lang="en-US" sz="1100" dirty="0"/>
          </a:p>
        </p:txBody>
      </p:sp>
      <p:sp>
        <p:nvSpPr>
          <p:cNvPr id="39" name="Text 15"/>
          <p:cNvSpPr/>
          <p:nvPr/>
        </p:nvSpPr>
        <p:spPr>
          <a:xfrm>
            <a:off x="11449050" y="6368207"/>
            <a:ext cx="171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" y="2066925"/>
            <a:ext cx="5391150" cy="77152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2190750"/>
            <a:ext cx="457200" cy="4762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2066925"/>
            <a:ext cx="5391150" cy="77152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2190750"/>
            <a:ext cx="457200" cy="4762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975" y="2962275"/>
            <a:ext cx="5391150" cy="781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3086100"/>
            <a:ext cx="457200" cy="4762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8875" y="2962275"/>
            <a:ext cx="5391150" cy="781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3086100"/>
            <a:ext cx="457200" cy="4762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1975" y="3867150"/>
            <a:ext cx="5391150" cy="771525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3900" y="3990975"/>
            <a:ext cx="457200" cy="4762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38875" y="3867150"/>
            <a:ext cx="5391150" cy="771525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00800" y="3990975"/>
            <a:ext cx="457200" cy="4762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1975" y="4762500"/>
            <a:ext cx="5391150" cy="78105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3900" y="4886325"/>
            <a:ext cx="457200" cy="47625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238875" y="4762500"/>
            <a:ext cx="5391150" cy="78105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00800" y="4886325"/>
            <a:ext cx="457200" cy="47625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61975" y="6105525"/>
            <a:ext cx="11068050" cy="476250"/>
          </a:xfrm>
          <a:prstGeom prst="rect">
            <a:avLst/>
          </a:prstGeom>
        </p:spPr>
      </p:pic>
      <p:sp>
        <p:nvSpPr>
          <p:cNvPr id="21" name="Text 0"/>
          <p:cNvSpPr/>
          <p:nvPr/>
        </p:nvSpPr>
        <p:spPr>
          <a:xfrm>
            <a:off x="571500" y="571500"/>
            <a:ext cx="121539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Tools and Technologies</a:t>
            </a:r>
            <a:endParaRPr lang="en-US" sz="3200" dirty="0"/>
          </a:p>
        </p:txBody>
      </p:sp>
      <p:sp>
        <p:nvSpPr>
          <p:cNvPr id="22" name="Text 1"/>
          <p:cNvSpPr/>
          <p:nvPr/>
        </p:nvSpPr>
        <p:spPr>
          <a:xfrm>
            <a:off x="571500" y="1219200"/>
            <a:ext cx="1215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A728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Key Platform Changes &amp; Strategic Implications for 2025</a:t>
            </a:r>
            <a:endParaRPr lang="en-US" sz="1200" dirty="0"/>
          </a:p>
        </p:txBody>
      </p:sp>
      <p:pic>
        <p:nvPicPr>
          <p:cNvPr id="23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7725" y="2333625"/>
            <a:ext cx="209550" cy="180975"/>
          </a:xfrm>
          <a:prstGeom prst="rect">
            <a:avLst/>
          </a:prstGeom>
        </p:spPr>
      </p:pic>
      <p:sp>
        <p:nvSpPr>
          <p:cNvPr id="24" name="Text 2"/>
          <p:cNvSpPr/>
          <p:nvPr/>
        </p:nvSpPr>
        <p:spPr>
          <a:xfrm>
            <a:off x="1295400" y="2229594"/>
            <a:ext cx="31813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(JDK 11+)</a:t>
            </a:r>
            <a:endParaRPr lang="en-US" sz="1200" dirty="0"/>
          </a:p>
        </p:txBody>
      </p:sp>
      <p:sp>
        <p:nvSpPr>
          <p:cNvPr id="25" name="Text 3"/>
          <p:cNvSpPr/>
          <p:nvPr/>
        </p:nvSpPr>
        <p:spPr>
          <a:xfrm>
            <a:off x="1295400" y="2482007"/>
            <a:ext cx="3181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Entire application — backend, RAG, HTTP, JDBC</a:t>
            </a:r>
            <a:endParaRPr lang="en-US" sz="900" dirty="0"/>
          </a:p>
        </p:txBody>
      </p:sp>
      <p:pic>
        <p:nvPicPr>
          <p:cNvPr id="26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53200" y="2333625"/>
            <a:ext cx="152400" cy="180975"/>
          </a:xfrm>
          <a:prstGeom prst="rect">
            <a:avLst/>
          </a:prstGeom>
        </p:spPr>
      </p:pic>
      <p:sp>
        <p:nvSpPr>
          <p:cNvPr id="27" name="Text 4"/>
          <p:cNvSpPr/>
          <p:nvPr/>
        </p:nvSpPr>
        <p:spPr>
          <a:xfrm>
            <a:off x="6972300" y="2229594"/>
            <a:ext cx="30289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15</a:t>
            </a:r>
            <a:endParaRPr lang="en-US" sz="1200" dirty="0"/>
          </a:p>
        </p:txBody>
      </p:sp>
      <p:sp>
        <p:nvSpPr>
          <p:cNvPr id="28" name="Text 5"/>
          <p:cNvSpPr/>
          <p:nvPr/>
        </p:nvSpPr>
        <p:spPr>
          <a:xfrm>
            <a:off x="6972300" y="2482007"/>
            <a:ext cx="3028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DB — vendor &amp; user data via JDBC</a:t>
            </a:r>
            <a:endParaRPr lang="en-US" sz="900" dirty="0"/>
          </a:p>
        </p:txBody>
      </p:sp>
      <p:pic>
        <p:nvPicPr>
          <p:cNvPr id="29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47725" y="3228975"/>
            <a:ext cx="209550" cy="180975"/>
          </a:xfrm>
          <a:prstGeom prst="rect">
            <a:avLst/>
          </a:prstGeom>
        </p:spPr>
      </p:pic>
      <p:sp>
        <p:nvSpPr>
          <p:cNvPr id="30" name="Text 6"/>
          <p:cNvSpPr/>
          <p:nvPr/>
        </p:nvSpPr>
        <p:spPr>
          <a:xfrm>
            <a:off x="1295400" y="3129707"/>
            <a:ext cx="34385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Qwen:0.5B (Ollama)</a:t>
            </a:r>
            <a:endParaRPr lang="en-US" sz="1200" dirty="0"/>
          </a:p>
        </p:txBody>
      </p:sp>
      <p:sp>
        <p:nvSpPr>
          <p:cNvPr id="31" name="Text 7"/>
          <p:cNvSpPr/>
          <p:nvPr/>
        </p:nvSpPr>
        <p:spPr>
          <a:xfrm>
            <a:off x="1295400" y="3382119"/>
            <a:ext cx="3438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LLM — answer generation via HTTP from Java</a:t>
            </a:r>
            <a:endParaRPr lang="en-US" sz="900" dirty="0"/>
          </a:p>
        </p:txBody>
      </p:sp>
      <p:pic>
        <p:nvPicPr>
          <p:cNvPr id="32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524625" y="3228975"/>
            <a:ext cx="209550" cy="180975"/>
          </a:xfrm>
          <a:prstGeom prst="rect">
            <a:avLst/>
          </a:prstGeom>
        </p:spPr>
      </p:pic>
      <p:sp>
        <p:nvSpPr>
          <p:cNvPr id="33" name="Text 8"/>
          <p:cNvSpPr/>
          <p:nvPr/>
        </p:nvSpPr>
        <p:spPr>
          <a:xfrm>
            <a:off x="6972300" y="3129707"/>
            <a:ext cx="33242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/ CSS / JS</a:t>
            </a:r>
            <a:endParaRPr lang="en-US" sz="1200" dirty="0"/>
          </a:p>
        </p:txBody>
      </p:sp>
      <p:sp>
        <p:nvSpPr>
          <p:cNvPr id="34" name="Text 9"/>
          <p:cNvSpPr/>
          <p:nvPr/>
        </p:nvSpPr>
        <p:spPr>
          <a:xfrm>
            <a:off x="6972300" y="3382119"/>
            <a:ext cx="3324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portal — served statically by Java server</a:t>
            </a:r>
            <a:endParaRPr lang="en-US" sz="900" dirty="0"/>
          </a:p>
        </p:txBody>
      </p:sp>
      <p:pic>
        <p:nvPicPr>
          <p:cNvPr id="3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66775" y="4133850"/>
            <a:ext cx="171450" cy="180975"/>
          </a:xfrm>
          <a:prstGeom prst="rect">
            <a:avLst/>
          </a:prstGeom>
        </p:spPr>
      </p:pic>
      <p:sp>
        <p:nvSpPr>
          <p:cNvPr id="36" name="Text 10"/>
          <p:cNvSpPr/>
          <p:nvPr/>
        </p:nvSpPr>
        <p:spPr>
          <a:xfrm>
            <a:off x="1295400" y="4029819"/>
            <a:ext cx="37052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nomic-embed-text</a:t>
            </a:r>
            <a:endParaRPr lang="en-US" sz="1200" dirty="0"/>
          </a:p>
        </p:txBody>
      </p:sp>
      <p:sp>
        <p:nvSpPr>
          <p:cNvPr id="37" name="Text 11"/>
          <p:cNvSpPr/>
          <p:nvPr/>
        </p:nvSpPr>
        <p:spPr>
          <a:xfrm>
            <a:off x="1295400" y="4282232"/>
            <a:ext cx="37052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768-dim embeddings called from Java via Ollama REST</a:t>
            </a:r>
            <a:endParaRPr lang="en-US" sz="900" dirty="0"/>
          </a:p>
        </p:txBody>
      </p:sp>
      <p:pic>
        <p:nvPicPr>
          <p:cNvPr id="38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24625" y="4133850"/>
            <a:ext cx="209550" cy="180975"/>
          </a:xfrm>
          <a:prstGeom prst="rect">
            <a:avLst/>
          </a:prstGeom>
        </p:spPr>
      </p:pic>
      <p:sp>
        <p:nvSpPr>
          <p:cNvPr id="39" name="Text 12"/>
          <p:cNvSpPr/>
          <p:nvPr/>
        </p:nvSpPr>
        <p:spPr>
          <a:xfrm>
            <a:off x="6972300" y="4029819"/>
            <a:ext cx="347662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HttpURLConnection</a:t>
            </a:r>
            <a:endParaRPr lang="en-US" sz="1200" dirty="0"/>
          </a:p>
        </p:txBody>
      </p:sp>
      <p:sp>
        <p:nvSpPr>
          <p:cNvPr id="40" name="Text 13"/>
          <p:cNvSpPr/>
          <p:nvPr/>
        </p:nvSpPr>
        <p:spPr>
          <a:xfrm>
            <a:off x="6972300" y="4282232"/>
            <a:ext cx="3476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built-in HTTP client for Ollama &amp; Pinecone calls</a:t>
            </a:r>
            <a:endParaRPr lang="en-US" sz="900" dirty="0"/>
          </a:p>
        </p:txBody>
      </p:sp>
      <p:pic>
        <p:nvPicPr>
          <p:cNvPr id="41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47725" y="5029200"/>
            <a:ext cx="209550" cy="180975"/>
          </a:xfrm>
          <a:prstGeom prst="rect">
            <a:avLst/>
          </a:prstGeom>
        </p:spPr>
      </p:pic>
      <p:sp>
        <p:nvSpPr>
          <p:cNvPr id="42" name="Text 14"/>
          <p:cNvSpPr/>
          <p:nvPr/>
        </p:nvSpPr>
        <p:spPr>
          <a:xfrm>
            <a:off x="1295400" y="4929932"/>
            <a:ext cx="37147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Pinecone</a:t>
            </a:r>
            <a:endParaRPr lang="en-US" sz="1200" dirty="0"/>
          </a:p>
        </p:txBody>
      </p:sp>
      <p:sp>
        <p:nvSpPr>
          <p:cNvPr id="43" name="Text 15"/>
          <p:cNvSpPr/>
          <p:nvPr/>
        </p:nvSpPr>
        <p:spPr>
          <a:xfrm>
            <a:off x="1295400" y="5182344"/>
            <a:ext cx="3714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vector DB — Java calls REST API for upsert/query</a:t>
            </a:r>
            <a:endParaRPr lang="en-US" sz="900" dirty="0"/>
          </a:p>
        </p:txBody>
      </p:sp>
      <p:pic>
        <p:nvPicPr>
          <p:cNvPr id="44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562725" y="5029200"/>
            <a:ext cx="133350" cy="180975"/>
          </a:xfrm>
          <a:prstGeom prst="rect">
            <a:avLst/>
          </a:prstGeom>
        </p:spPr>
      </p:pic>
      <p:sp>
        <p:nvSpPr>
          <p:cNvPr id="45" name="Text 16"/>
          <p:cNvSpPr/>
          <p:nvPr/>
        </p:nvSpPr>
        <p:spPr>
          <a:xfrm>
            <a:off x="6972300" y="4929932"/>
            <a:ext cx="260985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org.json / Json</a:t>
            </a:r>
            <a:endParaRPr lang="en-US" sz="1200" dirty="0"/>
          </a:p>
        </p:txBody>
      </p:sp>
      <p:sp>
        <p:nvSpPr>
          <p:cNvPr id="46" name="Text 17"/>
          <p:cNvSpPr/>
          <p:nvPr/>
        </p:nvSpPr>
        <p:spPr>
          <a:xfrm>
            <a:off x="6972300" y="5182344"/>
            <a:ext cx="2609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parsing for API responses in Java</a:t>
            </a:r>
            <a:endParaRPr lang="en-US" sz="900" dirty="0"/>
          </a:p>
        </p:txBody>
      </p:sp>
      <p:sp>
        <p:nvSpPr>
          <p:cNvPr id="47" name="Text 18"/>
          <p:cNvSpPr/>
          <p:nvPr/>
        </p:nvSpPr>
        <p:spPr>
          <a:xfrm>
            <a:off x="571500" y="6354663"/>
            <a:ext cx="9115425" cy="217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A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Atharva Abhijeet Mahalkar| Japkeerat Kaur | Prakhar Vishwakarma · Guide: Prof. Suhas Joshi · April 2026</a:t>
            </a:r>
            <a:endParaRPr lang="en-US" sz="1100" dirty="0"/>
          </a:p>
        </p:txBody>
      </p:sp>
      <p:sp>
        <p:nvSpPr>
          <p:cNvPr id="48" name="Text 19"/>
          <p:cNvSpPr/>
          <p:nvPr/>
        </p:nvSpPr>
        <p:spPr>
          <a:xfrm>
            <a:off x="11458575" y="6368207"/>
            <a:ext cx="161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" y="1971675"/>
            <a:ext cx="5391150" cy="11620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133600"/>
            <a:ext cx="533400" cy="5524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1971675"/>
            <a:ext cx="5391150" cy="1162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8900" y="2133600"/>
            <a:ext cx="533400" cy="5524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975" y="3333750"/>
            <a:ext cx="5391150" cy="115252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3495675"/>
            <a:ext cx="533400" cy="5524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8875" y="3333750"/>
            <a:ext cx="5391150" cy="115252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8900" y="3495675"/>
            <a:ext cx="533400" cy="5524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1975" y="4686300"/>
            <a:ext cx="5391150" cy="942975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2000" y="4848225"/>
            <a:ext cx="533400" cy="5524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38875" y="4686300"/>
            <a:ext cx="5391150" cy="942975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38900" y="4848225"/>
            <a:ext cx="533400" cy="5524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61975" y="6105525"/>
            <a:ext cx="11068050" cy="47625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571500" y="571500"/>
            <a:ext cx="121539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Project Modules</a:t>
            </a:r>
            <a:endParaRPr lang="en-US" sz="3200" dirty="0"/>
          </a:p>
        </p:txBody>
      </p:sp>
      <p:sp>
        <p:nvSpPr>
          <p:cNvPr id="18" name="Text 1"/>
          <p:cNvSpPr/>
          <p:nvPr/>
        </p:nvSpPr>
        <p:spPr>
          <a:xfrm>
            <a:off x="571500" y="1219200"/>
            <a:ext cx="1215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A728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Functional Breakdown of the Architectural Ledger System</a:t>
            </a:r>
            <a:endParaRPr lang="en-US" sz="1200" dirty="0"/>
          </a:p>
        </p:txBody>
      </p:sp>
      <p:sp>
        <p:nvSpPr>
          <p:cNvPr id="19" name="Text 2"/>
          <p:cNvSpPr/>
          <p:nvPr/>
        </p:nvSpPr>
        <p:spPr>
          <a:xfrm>
            <a:off x="5448300" y="2064097"/>
            <a:ext cx="37719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01</a:t>
            </a:r>
            <a:endParaRPr lang="en-US" sz="2400" dirty="0"/>
          </a:p>
        </p:txBody>
      </p:sp>
      <p:pic>
        <p:nvPicPr>
          <p:cNvPr id="20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3925" y="2295525"/>
            <a:ext cx="209550" cy="219075"/>
          </a:xfrm>
          <a:prstGeom prst="rect">
            <a:avLst/>
          </a:prstGeom>
        </p:spPr>
      </p:pic>
      <p:sp>
        <p:nvSpPr>
          <p:cNvPr id="21" name="Text 3"/>
          <p:cNvSpPr/>
          <p:nvPr/>
        </p:nvSpPr>
        <p:spPr>
          <a:xfrm>
            <a:off x="1409700" y="2178397"/>
            <a:ext cx="43434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Ledger Intelligence</a:t>
            </a:r>
            <a:endParaRPr lang="en-US" sz="1400" dirty="0"/>
          </a:p>
        </p:txBody>
      </p:sp>
      <p:sp>
        <p:nvSpPr>
          <p:cNvPr id="22" name="Text 4"/>
          <p:cNvSpPr/>
          <p:nvPr/>
        </p:nvSpPr>
        <p:spPr>
          <a:xfrm>
            <a:off x="1409700" y="2492722"/>
            <a:ext cx="4343400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SearchService: Ollama embed → Pinecone → Qwen:0.5B answer</a:t>
            </a:r>
            <a:endParaRPr lang="en-US" sz="900" dirty="0"/>
          </a:p>
        </p:txBody>
      </p:sp>
      <p:sp>
        <p:nvSpPr>
          <p:cNvPr id="23" name="Text 5"/>
          <p:cNvSpPr/>
          <p:nvPr/>
        </p:nvSpPr>
        <p:spPr>
          <a:xfrm>
            <a:off x="11068050" y="2064097"/>
            <a:ext cx="44005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02</a:t>
            </a:r>
            <a:endParaRPr lang="en-US" sz="2400" dirty="0"/>
          </a:p>
        </p:txBody>
      </p:sp>
      <p:pic>
        <p:nvPicPr>
          <p:cNvPr id="2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00825" y="2295525"/>
            <a:ext cx="209550" cy="219075"/>
          </a:xfrm>
          <a:prstGeom prst="rect">
            <a:avLst/>
          </a:prstGeom>
        </p:spPr>
      </p:pic>
      <p:sp>
        <p:nvSpPr>
          <p:cNvPr id="25" name="Text 6"/>
          <p:cNvSpPr/>
          <p:nvPr/>
        </p:nvSpPr>
        <p:spPr>
          <a:xfrm>
            <a:off x="7086600" y="2178397"/>
            <a:ext cx="42100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Repository</a:t>
            </a:r>
            <a:endParaRPr lang="en-US" sz="1400" dirty="0"/>
          </a:p>
        </p:txBody>
      </p:sp>
      <p:sp>
        <p:nvSpPr>
          <p:cNvPr id="26" name="Text 7"/>
          <p:cNvSpPr/>
          <p:nvPr/>
        </p:nvSpPr>
        <p:spPr>
          <a:xfrm>
            <a:off x="7086600" y="2492722"/>
            <a:ext cx="4210050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IngestService: chunk → Ollama embed → Pinecone upsert</a:t>
            </a:r>
            <a:endParaRPr lang="en-US" sz="900" dirty="0"/>
          </a:p>
        </p:txBody>
      </p:sp>
      <p:sp>
        <p:nvSpPr>
          <p:cNvPr id="27" name="Text 8"/>
          <p:cNvSpPr/>
          <p:nvPr/>
        </p:nvSpPr>
        <p:spPr>
          <a:xfrm>
            <a:off x="5400675" y="3421410"/>
            <a:ext cx="42957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03</a:t>
            </a:r>
            <a:endParaRPr lang="en-US" sz="2400" dirty="0"/>
          </a:p>
        </p:txBody>
      </p:sp>
      <p:pic>
        <p:nvPicPr>
          <p:cNvPr id="2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95350" y="3657600"/>
            <a:ext cx="266700" cy="219075"/>
          </a:xfrm>
          <a:prstGeom prst="rect">
            <a:avLst/>
          </a:prstGeom>
        </p:spPr>
      </p:pic>
      <p:sp>
        <p:nvSpPr>
          <p:cNvPr id="29" name="Text 9"/>
          <p:cNvSpPr/>
          <p:nvPr/>
        </p:nvSpPr>
        <p:spPr>
          <a:xfrm>
            <a:off x="1409700" y="3535710"/>
            <a:ext cx="43434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Comparison</a:t>
            </a:r>
            <a:endParaRPr lang="en-US" sz="1400" dirty="0"/>
          </a:p>
        </p:txBody>
      </p:sp>
      <p:sp>
        <p:nvSpPr>
          <p:cNvPr id="30" name="Text 10"/>
          <p:cNvSpPr/>
          <p:nvPr/>
        </p:nvSpPr>
        <p:spPr>
          <a:xfrm>
            <a:off x="1409700" y="3850035"/>
            <a:ext cx="4343400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CompareService: dual Pinecone retrieval → Qwen clause diff</a:t>
            </a:r>
            <a:endParaRPr lang="en-US" sz="900" dirty="0"/>
          </a:p>
        </p:txBody>
      </p:sp>
      <p:sp>
        <p:nvSpPr>
          <p:cNvPr id="31" name="Text 11"/>
          <p:cNvSpPr/>
          <p:nvPr/>
        </p:nvSpPr>
        <p:spPr>
          <a:xfrm>
            <a:off x="11058525" y="3421410"/>
            <a:ext cx="45053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04</a:t>
            </a:r>
            <a:endParaRPr lang="en-US" sz="2400" dirty="0"/>
          </a:p>
        </p:txBody>
      </p:sp>
      <p:pic>
        <p:nvPicPr>
          <p:cNvPr id="3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72250" y="3657600"/>
            <a:ext cx="266700" cy="219075"/>
          </a:xfrm>
          <a:prstGeom prst="rect">
            <a:avLst/>
          </a:prstGeom>
        </p:spPr>
      </p:pic>
      <p:sp>
        <p:nvSpPr>
          <p:cNvPr id="33" name="Text 12"/>
          <p:cNvSpPr/>
          <p:nvPr/>
        </p:nvSpPr>
        <p:spPr>
          <a:xfrm>
            <a:off x="7086600" y="3535710"/>
            <a:ext cx="30289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 Management</a:t>
            </a:r>
            <a:endParaRPr lang="en-US" sz="1400" dirty="0"/>
          </a:p>
        </p:txBody>
      </p:sp>
      <p:sp>
        <p:nvSpPr>
          <p:cNvPr id="34" name="Text 13"/>
          <p:cNvSpPr/>
          <p:nvPr/>
        </p:nvSpPr>
        <p:spPr>
          <a:xfrm>
            <a:off x="7086600" y="3850035"/>
            <a:ext cx="3028950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Vendor: full CRUD via PostgreSQL JDBC</a:t>
            </a:r>
            <a:endParaRPr lang="en-US" sz="900" dirty="0"/>
          </a:p>
        </p:txBody>
      </p:sp>
      <p:sp>
        <p:nvSpPr>
          <p:cNvPr id="35" name="Text 14"/>
          <p:cNvSpPr/>
          <p:nvPr/>
        </p:nvSpPr>
        <p:spPr>
          <a:xfrm>
            <a:off x="5381625" y="4778722"/>
            <a:ext cx="45053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05</a:t>
            </a:r>
            <a:endParaRPr lang="en-US" sz="2400" dirty="0"/>
          </a:p>
        </p:txBody>
      </p:sp>
      <p:pic>
        <p:nvPicPr>
          <p:cNvPr id="36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04875" y="5010150"/>
            <a:ext cx="247650" cy="219075"/>
          </a:xfrm>
          <a:prstGeom prst="rect">
            <a:avLst/>
          </a:prstGeom>
        </p:spPr>
      </p:pic>
      <p:sp>
        <p:nvSpPr>
          <p:cNvPr id="37" name="Text 15"/>
          <p:cNvSpPr/>
          <p:nvPr/>
        </p:nvSpPr>
        <p:spPr>
          <a:xfrm>
            <a:off x="1409700" y="4893022"/>
            <a:ext cx="32289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Contracts</a:t>
            </a:r>
            <a:endParaRPr lang="en-US" sz="1400" dirty="0"/>
          </a:p>
        </p:txBody>
      </p:sp>
      <p:sp>
        <p:nvSpPr>
          <p:cNvPr id="38" name="Text 16"/>
          <p:cNvSpPr/>
          <p:nvPr/>
        </p:nvSpPr>
        <p:spPr>
          <a:xfrm>
            <a:off x="1409700" y="5207347"/>
            <a:ext cx="3228975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library for AI comparison benchmarks</a:t>
            </a:r>
            <a:endParaRPr lang="en-US" sz="900" dirty="0"/>
          </a:p>
        </p:txBody>
      </p:sp>
      <p:sp>
        <p:nvSpPr>
          <p:cNvPr id="39" name="Text 17"/>
          <p:cNvSpPr/>
          <p:nvPr/>
        </p:nvSpPr>
        <p:spPr>
          <a:xfrm>
            <a:off x="11068050" y="4778722"/>
            <a:ext cx="44005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06</a:t>
            </a:r>
            <a:endParaRPr lang="en-US" sz="2400" dirty="0"/>
          </a:p>
        </p:txBody>
      </p:sp>
      <p:pic>
        <p:nvPicPr>
          <p:cNvPr id="40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00825" y="5010150"/>
            <a:ext cx="209550" cy="219075"/>
          </a:xfrm>
          <a:prstGeom prst="rect">
            <a:avLst/>
          </a:prstGeom>
        </p:spPr>
      </p:pic>
      <p:sp>
        <p:nvSpPr>
          <p:cNvPr id="41" name="Text 18"/>
          <p:cNvSpPr/>
          <p:nvPr/>
        </p:nvSpPr>
        <p:spPr>
          <a:xfrm>
            <a:off x="7086600" y="4893022"/>
            <a:ext cx="41719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1400" dirty="0"/>
          </a:p>
        </p:txBody>
      </p:sp>
      <p:sp>
        <p:nvSpPr>
          <p:cNvPr id="42" name="Text 19"/>
          <p:cNvSpPr/>
          <p:nvPr/>
        </p:nvSpPr>
        <p:spPr>
          <a:xfrm>
            <a:off x="7086600" y="5207347"/>
            <a:ext cx="4171950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config.properties: Ollama model, Pinecone key, chunk settings</a:t>
            </a:r>
            <a:endParaRPr lang="en-US" sz="900" dirty="0"/>
          </a:p>
        </p:txBody>
      </p:sp>
      <p:sp>
        <p:nvSpPr>
          <p:cNvPr id="43" name="Text 20"/>
          <p:cNvSpPr/>
          <p:nvPr/>
        </p:nvSpPr>
        <p:spPr>
          <a:xfrm>
            <a:off x="571500" y="6354663"/>
            <a:ext cx="9115425" cy="217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A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Atharva Abhijeet Mahalkar| Japkeerat Kaur | Prakhar Vishwakarma · Guide: Prof. Suhas Joshi · April 2026</a:t>
            </a:r>
            <a:endParaRPr lang="en-US" sz="1100" dirty="0"/>
          </a:p>
        </p:txBody>
      </p:sp>
      <p:sp>
        <p:nvSpPr>
          <p:cNvPr id="44" name="Text 21"/>
          <p:cNvSpPr/>
          <p:nvPr/>
        </p:nvSpPr>
        <p:spPr>
          <a:xfrm>
            <a:off x="11449050" y="6368207"/>
            <a:ext cx="171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400175"/>
            <a:ext cx="4895850" cy="208597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150" y="1400175"/>
            <a:ext cx="4895850" cy="208597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3667125"/>
            <a:ext cx="4895850" cy="208597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3667125"/>
            <a:ext cx="4895850" cy="208597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725" y="6276975"/>
            <a:ext cx="11258550" cy="400050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476250" y="476250"/>
            <a:ext cx="123634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Application Screenshots</a:t>
            </a:r>
            <a:endParaRPr lang="en-US" sz="3200" dirty="0"/>
          </a:p>
        </p:txBody>
      </p:sp>
      <p:sp>
        <p:nvSpPr>
          <p:cNvPr id="10" name="Text 1"/>
          <p:cNvSpPr/>
          <p:nvPr/>
        </p:nvSpPr>
        <p:spPr>
          <a:xfrm>
            <a:off x="1200150" y="3420219"/>
            <a:ext cx="4019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5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AI Search — Java SearchService calls Ollama + Pinecone</a:t>
            </a:r>
            <a:endParaRPr lang="en-US" sz="900" dirty="0"/>
          </a:p>
        </p:txBody>
      </p:sp>
      <p:sp>
        <p:nvSpPr>
          <p:cNvPr id="11" name="Text 2"/>
          <p:cNvSpPr/>
          <p:nvPr/>
        </p:nvSpPr>
        <p:spPr>
          <a:xfrm>
            <a:off x="6881813" y="3420219"/>
            <a:ext cx="4200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5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Repository — Java IngestService indexes docs in Pinecone</a:t>
            </a:r>
            <a:endParaRPr lang="en-US" sz="900" dirty="0"/>
          </a:p>
        </p:txBody>
      </p:sp>
      <p:sp>
        <p:nvSpPr>
          <p:cNvPr id="12" name="Text 3"/>
          <p:cNvSpPr/>
          <p:nvPr/>
        </p:nvSpPr>
        <p:spPr>
          <a:xfrm>
            <a:off x="862013" y="5687169"/>
            <a:ext cx="4695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5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Document Comparison — Java CompareService selects contracts</a:t>
            </a:r>
            <a:endParaRPr lang="en-US" sz="900" dirty="0"/>
          </a:p>
        </p:txBody>
      </p:sp>
      <p:sp>
        <p:nvSpPr>
          <p:cNvPr id="13" name="Text 4"/>
          <p:cNvSpPr/>
          <p:nvPr/>
        </p:nvSpPr>
        <p:spPr>
          <a:xfrm>
            <a:off x="6862763" y="5687169"/>
            <a:ext cx="4238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5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Comparison Results — Qwen:0.5B extracts clauses via Java</a:t>
            </a:r>
            <a:endParaRPr lang="en-US" sz="900" dirty="0"/>
          </a:p>
        </p:txBody>
      </p:sp>
      <p:sp>
        <p:nvSpPr>
          <p:cNvPr id="14" name="Text 5"/>
          <p:cNvSpPr/>
          <p:nvPr/>
        </p:nvSpPr>
        <p:spPr>
          <a:xfrm>
            <a:off x="476250" y="6449913"/>
            <a:ext cx="9115425" cy="217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A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Atharva Abhijeet Mahalkar| Japkeerat Kaur | Prakhar Vishwakarma · Guide: Prof. Suhas Joshi · April 2026</a:t>
            </a:r>
            <a:endParaRPr lang="en-US" sz="1100" dirty="0"/>
          </a:p>
        </p:txBody>
      </p:sp>
      <p:sp>
        <p:nvSpPr>
          <p:cNvPr id="15" name="Text 6"/>
          <p:cNvSpPr/>
          <p:nvPr/>
        </p:nvSpPr>
        <p:spPr>
          <a:xfrm>
            <a:off x="11544300" y="6463457"/>
            <a:ext cx="171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" y="1924050"/>
            <a:ext cx="11068050" cy="117157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" y="3219450"/>
            <a:ext cx="11068050" cy="117157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4514850"/>
            <a:ext cx="11068050" cy="117157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975" y="6105525"/>
            <a:ext cx="11068050" cy="476250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571500" y="571500"/>
            <a:ext cx="121539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Use Cases</a:t>
            </a:r>
            <a:endParaRPr lang="en-US" sz="3200" dirty="0"/>
          </a:p>
        </p:txBody>
      </p:sp>
      <p:sp>
        <p:nvSpPr>
          <p:cNvPr id="9" name="Text 1"/>
          <p:cNvSpPr/>
          <p:nvPr/>
        </p:nvSpPr>
        <p:spPr>
          <a:xfrm>
            <a:off x="571500" y="1219200"/>
            <a:ext cx="1215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A728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Real-world Scenarios and Workflow Implementations</a:t>
            </a:r>
            <a:endParaRPr lang="en-US" sz="1200" dirty="0"/>
          </a:p>
        </p:txBody>
      </p:sp>
      <p:sp>
        <p:nvSpPr>
          <p:cNvPr id="10" name="Text 2"/>
          <p:cNvSpPr/>
          <p:nvPr/>
        </p:nvSpPr>
        <p:spPr>
          <a:xfrm>
            <a:off x="762000" y="2086719"/>
            <a:ext cx="2476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9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UC1 — AI Contract Query</a:t>
            </a:r>
            <a:endParaRPr lang="en-US" sz="1400" dirty="0"/>
          </a:p>
        </p:txBody>
      </p:sp>
      <p:pic>
        <p:nvPicPr>
          <p:cNvPr id="1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63050" y="2047875"/>
            <a:ext cx="2343150" cy="361950"/>
          </a:xfrm>
          <a:prstGeom prst="rect">
            <a:avLst/>
          </a:prstGeom>
        </p:spPr>
      </p:pic>
      <p:sp>
        <p:nvSpPr>
          <p:cNvPr id="12" name="Text 3"/>
          <p:cNvSpPr/>
          <p:nvPr/>
        </p:nvSpPr>
        <p:spPr>
          <a:xfrm>
            <a:off x="9315450" y="2124819"/>
            <a:ext cx="2038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A7282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Actor: Procurement Manager</a:t>
            </a:r>
            <a:endParaRPr lang="en-US" sz="900" dirty="0"/>
          </a:p>
        </p:txBody>
      </p:sp>
      <p:sp>
        <p:nvSpPr>
          <p:cNvPr id="13" name="Text 4"/>
          <p:cNvSpPr/>
          <p:nvPr/>
        </p:nvSpPr>
        <p:spPr>
          <a:xfrm>
            <a:off x="762000" y="2429619"/>
            <a:ext cx="371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Flow:</a:t>
            </a:r>
            <a:endParaRPr lang="en-US" sz="900" dirty="0"/>
          </a:p>
        </p:txBody>
      </p:sp>
      <p:sp>
        <p:nvSpPr>
          <p:cNvPr id="14" name="Text 5"/>
          <p:cNvSpPr/>
          <p:nvPr/>
        </p:nvSpPr>
        <p:spPr>
          <a:xfrm>
            <a:off x="1285875" y="2429619"/>
            <a:ext cx="409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</a:t>
            </a:r>
            <a:endParaRPr lang="en-US" sz="900" dirty="0"/>
          </a:p>
        </p:txBody>
      </p:sp>
      <p:pic>
        <p:nvPicPr>
          <p:cNvPr id="1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62125" y="2466975"/>
            <a:ext cx="104775" cy="123825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1933575" y="2429619"/>
            <a:ext cx="1485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embeds (Ollama)</a:t>
            </a:r>
            <a:endParaRPr lang="en-US" sz="900" dirty="0"/>
          </a:p>
        </p:txBody>
      </p:sp>
      <p:pic>
        <p:nvPicPr>
          <p:cNvPr id="1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86150" y="2466975"/>
            <a:ext cx="104775" cy="123825"/>
          </a:xfrm>
          <a:prstGeom prst="rect">
            <a:avLst/>
          </a:prstGeom>
        </p:spPr>
      </p:pic>
      <p:sp>
        <p:nvSpPr>
          <p:cNvPr id="18" name="Text 7"/>
          <p:cNvSpPr/>
          <p:nvPr/>
        </p:nvSpPr>
        <p:spPr>
          <a:xfrm>
            <a:off x="3657600" y="2429619"/>
            <a:ext cx="61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Pinecone</a:t>
            </a:r>
            <a:endParaRPr lang="en-US" sz="900" dirty="0"/>
          </a:p>
        </p:txBody>
      </p:sp>
      <p:pic>
        <p:nvPicPr>
          <p:cNvPr id="1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43400" y="2466975"/>
            <a:ext cx="104775" cy="123825"/>
          </a:xfrm>
          <a:prstGeom prst="rect">
            <a:avLst/>
          </a:prstGeom>
        </p:spPr>
      </p:pic>
      <p:sp>
        <p:nvSpPr>
          <p:cNvPr id="20" name="Text 8"/>
          <p:cNvSpPr/>
          <p:nvPr/>
        </p:nvSpPr>
        <p:spPr>
          <a:xfrm>
            <a:off x="4514850" y="2429619"/>
            <a:ext cx="1295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Qwen:0.5B answers</a:t>
            </a:r>
            <a:endParaRPr lang="en-US" sz="900" dirty="0"/>
          </a:p>
        </p:txBody>
      </p:sp>
      <p:pic>
        <p:nvPicPr>
          <p:cNvPr id="2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2475" y="2724150"/>
            <a:ext cx="171450" cy="180975"/>
          </a:xfrm>
          <a:prstGeom prst="rect">
            <a:avLst/>
          </a:prstGeom>
        </p:spPr>
      </p:pic>
      <p:sp>
        <p:nvSpPr>
          <p:cNvPr id="22" name="Text 9"/>
          <p:cNvSpPr/>
          <p:nvPr/>
        </p:nvSpPr>
        <p:spPr>
          <a:xfrm>
            <a:off x="990600" y="2696319"/>
            <a:ext cx="3162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9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✓ Clause answer in 2–5 seconds</a:t>
            </a:r>
            <a:endParaRPr lang="en-US" sz="1100" dirty="0"/>
          </a:p>
        </p:txBody>
      </p:sp>
      <p:sp>
        <p:nvSpPr>
          <p:cNvPr id="23" name="Text 10"/>
          <p:cNvSpPr/>
          <p:nvPr/>
        </p:nvSpPr>
        <p:spPr>
          <a:xfrm>
            <a:off x="762000" y="3382119"/>
            <a:ext cx="3028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UC2 — Contract Risk Compare</a:t>
            </a:r>
            <a:endParaRPr lang="en-US" sz="1400" dirty="0"/>
          </a:p>
        </p:txBody>
      </p:sp>
      <p:pic>
        <p:nvPicPr>
          <p:cNvPr id="2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63150" y="3343275"/>
            <a:ext cx="1543050" cy="361950"/>
          </a:xfrm>
          <a:prstGeom prst="rect">
            <a:avLst/>
          </a:prstGeom>
        </p:spPr>
      </p:pic>
      <p:sp>
        <p:nvSpPr>
          <p:cNvPr id="25" name="Text 11"/>
          <p:cNvSpPr/>
          <p:nvPr/>
        </p:nvSpPr>
        <p:spPr>
          <a:xfrm>
            <a:off x="10115550" y="3420219"/>
            <a:ext cx="1238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A7282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Actor: Legal Team</a:t>
            </a:r>
            <a:endParaRPr lang="en-US" sz="900" dirty="0"/>
          </a:p>
        </p:txBody>
      </p:sp>
      <p:sp>
        <p:nvSpPr>
          <p:cNvPr id="26" name="Text 12"/>
          <p:cNvSpPr/>
          <p:nvPr/>
        </p:nvSpPr>
        <p:spPr>
          <a:xfrm>
            <a:off x="762000" y="3725019"/>
            <a:ext cx="371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Flow:</a:t>
            </a:r>
            <a:endParaRPr lang="en-US" sz="900" dirty="0"/>
          </a:p>
        </p:txBody>
      </p:sp>
      <p:sp>
        <p:nvSpPr>
          <p:cNvPr id="27" name="Text 13"/>
          <p:cNvSpPr/>
          <p:nvPr/>
        </p:nvSpPr>
        <p:spPr>
          <a:xfrm>
            <a:off x="1285875" y="3725019"/>
            <a:ext cx="876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2 docs</a:t>
            </a:r>
            <a:endParaRPr lang="en-US" sz="900" dirty="0"/>
          </a:p>
        </p:txBody>
      </p:sp>
      <p:pic>
        <p:nvPicPr>
          <p:cNvPr id="2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28850" y="3762375"/>
            <a:ext cx="104775" cy="123825"/>
          </a:xfrm>
          <a:prstGeom prst="rect">
            <a:avLst/>
          </a:prstGeom>
        </p:spPr>
      </p:pic>
      <p:sp>
        <p:nvSpPr>
          <p:cNvPr id="29" name="Text 14"/>
          <p:cNvSpPr/>
          <p:nvPr/>
        </p:nvSpPr>
        <p:spPr>
          <a:xfrm>
            <a:off x="2400300" y="3725019"/>
            <a:ext cx="194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retrieves from Pinecone</a:t>
            </a:r>
            <a:endParaRPr lang="en-US" sz="900" dirty="0"/>
          </a:p>
        </p:txBody>
      </p:sp>
      <p:pic>
        <p:nvPicPr>
          <p:cNvPr id="3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410075" y="3762375"/>
            <a:ext cx="104775" cy="123825"/>
          </a:xfrm>
          <a:prstGeom prst="rect">
            <a:avLst/>
          </a:prstGeom>
        </p:spPr>
      </p:pic>
      <p:sp>
        <p:nvSpPr>
          <p:cNvPr id="31" name="Text 15"/>
          <p:cNvSpPr/>
          <p:nvPr/>
        </p:nvSpPr>
        <p:spPr>
          <a:xfrm>
            <a:off x="4581525" y="3725019"/>
            <a:ext cx="95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 extracts</a:t>
            </a:r>
            <a:endParaRPr lang="en-US" sz="900" dirty="0"/>
          </a:p>
        </p:txBody>
      </p:sp>
      <p:pic>
        <p:nvPicPr>
          <p:cNvPr id="3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2475" y="4019550"/>
            <a:ext cx="171450" cy="180975"/>
          </a:xfrm>
          <a:prstGeom prst="rect">
            <a:avLst/>
          </a:prstGeom>
        </p:spPr>
      </p:pic>
      <p:sp>
        <p:nvSpPr>
          <p:cNvPr id="33" name="Text 16"/>
          <p:cNvSpPr/>
          <p:nvPr/>
        </p:nvSpPr>
        <p:spPr>
          <a:xfrm>
            <a:off x="990600" y="3991719"/>
            <a:ext cx="3705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9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✓ Payment, delivery &amp; penalty clauses</a:t>
            </a:r>
            <a:endParaRPr lang="en-US" sz="1100" dirty="0"/>
          </a:p>
        </p:txBody>
      </p:sp>
      <p:sp>
        <p:nvSpPr>
          <p:cNvPr id="34" name="Text 17"/>
          <p:cNvSpPr/>
          <p:nvPr/>
        </p:nvSpPr>
        <p:spPr>
          <a:xfrm>
            <a:off x="762000" y="4677519"/>
            <a:ext cx="2505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9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UC3 — Compliance Audit</a:t>
            </a:r>
            <a:endParaRPr lang="en-US" sz="1400" dirty="0"/>
          </a:p>
        </p:txBody>
      </p:sp>
      <p:pic>
        <p:nvPicPr>
          <p:cNvPr id="3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420225" y="4638675"/>
            <a:ext cx="2085975" cy="361950"/>
          </a:xfrm>
          <a:prstGeom prst="rect">
            <a:avLst/>
          </a:prstGeom>
        </p:spPr>
      </p:pic>
      <p:sp>
        <p:nvSpPr>
          <p:cNvPr id="36" name="Text 18"/>
          <p:cNvSpPr/>
          <p:nvPr/>
        </p:nvSpPr>
        <p:spPr>
          <a:xfrm>
            <a:off x="9572625" y="4715619"/>
            <a:ext cx="1781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A7282"/>
                </a:solidFill>
                <a:highlight>
                  <a:srgbClr val="FFFFF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Actor: Compliance Officer</a:t>
            </a:r>
            <a:endParaRPr lang="en-US" sz="900" dirty="0"/>
          </a:p>
        </p:txBody>
      </p:sp>
      <p:sp>
        <p:nvSpPr>
          <p:cNvPr id="37" name="Text 19"/>
          <p:cNvSpPr/>
          <p:nvPr/>
        </p:nvSpPr>
        <p:spPr>
          <a:xfrm>
            <a:off x="762000" y="5020419"/>
            <a:ext cx="371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Flow:</a:t>
            </a:r>
            <a:endParaRPr lang="en-US" sz="900" dirty="0"/>
          </a:p>
        </p:txBody>
      </p:sp>
      <p:sp>
        <p:nvSpPr>
          <p:cNvPr id="38" name="Text 20"/>
          <p:cNvSpPr/>
          <p:nvPr/>
        </p:nvSpPr>
        <p:spPr>
          <a:xfrm>
            <a:off x="1285875" y="5020419"/>
            <a:ext cx="1266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policy term</a:t>
            </a:r>
            <a:endParaRPr lang="en-US" sz="900" dirty="0"/>
          </a:p>
        </p:txBody>
      </p:sp>
      <p:pic>
        <p:nvPicPr>
          <p:cNvPr id="39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619375" y="5057775"/>
            <a:ext cx="104775" cy="123825"/>
          </a:xfrm>
          <a:prstGeom prst="rect">
            <a:avLst/>
          </a:prstGeom>
        </p:spPr>
      </p:pic>
      <p:sp>
        <p:nvSpPr>
          <p:cNvPr id="40" name="Text 21"/>
          <p:cNvSpPr/>
          <p:nvPr/>
        </p:nvSpPr>
        <p:spPr>
          <a:xfrm>
            <a:off x="2790825" y="5020419"/>
            <a:ext cx="2219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Pinecone retrieves all policy docs</a:t>
            </a:r>
            <a:endParaRPr lang="en-US" sz="900" dirty="0"/>
          </a:p>
        </p:txBody>
      </p:sp>
      <p:pic>
        <p:nvPicPr>
          <p:cNvPr id="41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76825" y="5057775"/>
            <a:ext cx="104775" cy="123825"/>
          </a:xfrm>
          <a:prstGeom prst="rect">
            <a:avLst/>
          </a:prstGeom>
        </p:spPr>
      </p:pic>
      <p:sp>
        <p:nvSpPr>
          <p:cNvPr id="42" name="Text 22"/>
          <p:cNvSpPr/>
          <p:nvPr/>
        </p:nvSpPr>
        <p:spPr>
          <a:xfrm>
            <a:off x="5248275" y="5020419"/>
            <a:ext cx="390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</a:t>
            </a:r>
            <a:endParaRPr lang="en-US" sz="900" dirty="0"/>
          </a:p>
        </p:txBody>
      </p:sp>
      <p:pic>
        <p:nvPicPr>
          <p:cNvPr id="43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2475" y="5314950"/>
            <a:ext cx="171450" cy="180975"/>
          </a:xfrm>
          <a:prstGeom prst="rect">
            <a:avLst/>
          </a:prstGeom>
        </p:spPr>
      </p:pic>
      <p:sp>
        <p:nvSpPr>
          <p:cNvPr id="44" name="Text 23"/>
          <p:cNvSpPr/>
          <p:nvPr/>
        </p:nvSpPr>
        <p:spPr>
          <a:xfrm>
            <a:off x="990600" y="5287119"/>
            <a:ext cx="3619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19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✓ Consolidated compliance summary</a:t>
            </a:r>
            <a:endParaRPr lang="en-US" sz="1100" dirty="0"/>
          </a:p>
        </p:txBody>
      </p:sp>
      <p:sp>
        <p:nvSpPr>
          <p:cNvPr id="45" name="Text 24"/>
          <p:cNvSpPr/>
          <p:nvPr/>
        </p:nvSpPr>
        <p:spPr>
          <a:xfrm>
            <a:off x="571500" y="6354663"/>
            <a:ext cx="9115425" cy="217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A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Atharva Abhijeet Mahalkar| Japkeerat Kaur | Prakhar Vishwakarma · Guide: Prof. Suhas Joshi · April 2026</a:t>
            </a:r>
            <a:endParaRPr lang="en-US" sz="1100" dirty="0"/>
          </a:p>
        </p:txBody>
      </p:sp>
      <p:sp>
        <p:nvSpPr>
          <p:cNvPr id="46" name="Text 25"/>
          <p:cNvSpPr/>
          <p:nvPr/>
        </p:nvSpPr>
        <p:spPr>
          <a:xfrm>
            <a:off x="11487150" y="6368207"/>
            <a:ext cx="133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" y="2190750"/>
            <a:ext cx="5229225" cy="63817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209800"/>
            <a:ext cx="5229225" cy="60007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3028950"/>
            <a:ext cx="5229225" cy="63817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2952750"/>
            <a:ext cx="5229225" cy="79057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975" y="3943350"/>
            <a:ext cx="5229225" cy="63817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3867150"/>
            <a:ext cx="5229225" cy="79057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1975" y="4781550"/>
            <a:ext cx="5229225" cy="63817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4800600"/>
            <a:ext cx="5229225" cy="60007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1975" y="6105525"/>
            <a:ext cx="11068050" cy="47625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571500" y="571500"/>
            <a:ext cx="121539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Challenges and Solutions</a:t>
            </a:r>
            <a:endParaRPr lang="en-US" sz="3200" dirty="0"/>
          </a:p>
        </p:txBody>
      </p:sp>
      <p:sp>
        <p:nvSpPr>
          <p:cNvPr id="14" name="Text 1"/>
          <p:cNvSpPr/>
          <p:nvPr/>
        </p:nvSpPr>
        <p:spPr>
          <a:xfrm>
            <a:off x="571500" y="1219200"/>
            <a:ext cx="1215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A728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Overcoming Technical Hurdles in Java-Native RAG Implementation</a:t>
            </a:r>
            <a:endParaRPr lang="en-US" sz="1200" dirty="0"/>
          </a:p>
        </p:txBody>
      </p:sp>
      <p:pic>
        <p:nvPicPr>
          <p:cNvPr id="1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0575" y="2400300"/>
            <a:ext cx="209550" cy="219075"/>
          </a:xfrm>
          <a:prstGeom prst="rect">
            <a:avLst/>
          </a:prstGeom>
        </p:spPr>
      </p:pic>
      <p:sp>
        <p:nvSpPr>
          <p:cNvPr id="16" name="Text 2"/>
          <p:cNvSpPr/>
          <p:nvPr/>
        </p:nvSpPr>
        <p:spPr>
          <a:xfrm>
            <a:off x="1143000" y="2391519"/>
            <a:ext cx="2019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Qwen:0.5B Context Limit</a:t>
            </a:r>
            <a:endParaRPr lang="en-US" sz="1100" dirty="0"/>
          </a:p>
        </p:txBody>
      </p:sp>
      <p:pic>
        <p:nvPicPr>
          <p:cNvPr id="1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00750" y="2400300"/>
            <a:ext cx="190500" cy="219075"/>
          </a:xfrm>
          <a:prstGeom prst="rect">
            <a:avLst/>
          </a:prstGeom>
        </p:spPr>
      </p:pic>
      <p:pic>
        <p:nvPicPr>
          <p:cNvPr id="1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29400" y="2400300"/>
            <a:ext cx="209550" cy="219075"/>
          </a:xfrm>
          <a:prstGeom prst="rect">
            <a:avLst/>
          </a:prstGeom>
        </p:spPr>
      </p:pic>
      <p:sp>
        <p:nvSpPr>
          <p:cNvPr id="19" name="Text 3"/>
          <p:cNvSpPr/>
          <p:nvPr/>
        </p:nvSpPr>
        <p:spPr>
          <a:xfrm>
            <a:off x="6981825" y="2410569"/>
            <a:ext cx="4314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chunk size to 400 tokens; top-K=3 for comparison tasks</a:t>
            </a:r>
            <a:endParaRPr lang="en-US" sz="900" dirty="0"/>
          </a:p>
        </p:txBody>
      </p:sp>
      <p:pic>
        <p:nvPicPr>
          <p:cNvPr id="20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0575" y="3238500"/>
            <a:ext cx="209550" cy="219075"/>
          </a:xfrm>
          <a:prstGeom prst="rect">
            <a:avLst/>
          </a:prstGeom>
        </p:spPr>
      </p:pic>
      <p:sp>
        <p:nvSpPr>
          <p:cNvPr id="21" name="Text 4"/>
          <p:cNvSpPr/>
          <p:nvPr/>
        </p:nvSpPr>
        <p:spPr>
          <a:xfrm>
            <a:off x="1143000" y="3229719"/>
            <a:ext cx="2562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Parsing Ollama Streamed JSON</a:t>
            </a:r>
            <a:endParaRPr lang="en-US" sz="1100" dirty="0"/>
          </a:p>
        </p:txBody>
      </p:sp>
      <p:pic>
        <p:nvPicPr>
          <p:cNvPr id="2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00750" y="3238500"/>
            <a:ext cx="190500" cy="219075"/>
          </a:xfrm>
          <a:prstGeom prst="rect">
            <a:avLst/>
          </a:prstGeom>
        </p:spPr>
      </p:pic>
      <p:pic>
        <p:nvPicPr>
          <p:cNvPr id="23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29400" y="3238500"/>
            <a:ext cx="209550" cy="219075"/>
          </a:xfrm>
          <a:prstGeom prst="rect">
            <a:avLst/>
          </a:prstGeom>
        </p:spPr>
      </p:pic>
      <p:sp>
        <p:nvSpPr>
          <p:cNvPr id="24" name="Text 5"/>
          <p:cNvSpPr/>
          <p:nvPr/>
        </p:nvSpPr>
        <p:spPr>
          <a:xfrm>
            <a:off x="6981825" y="3153519"/>
            <a:ext cx="44481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full HTTP response stream in Java; used org.json to parse result</a:t>
            </a:r>
            <a:endParaRPr lang="en-US" sz="900" dirty="0"/>
          </a:p>
        </p:txBody>
      </p:sp>
      <p:pic>
        <p:nvPicPr>
          <p:cNvPr id="25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0575" y="4152900"/>
            <a:ext cx="209550" cy="219075"/>
          </a:xfrm>
          <a:prstGeom prst="rect">
            <a:avLst/>
          </a:prstGeom>
        </p:spPr>
      </p:pic>
      <p:sp>
        <p:nvSpPr>
          <p:cNvPr id="26" name="Text 6"/>
          <p:cNvSpPr/>
          <p:nvPr/>
        </p:nvSpPr>
        <p:spPr>
          <a:xfrm>
            <a:off x="1143000" y="4144119"/>
            <a:ext cx="2466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Pinecone Namespace Isolation</a:t>
            </a:r>
            <a:endParaRPr lang="en-US" sz="1100" dirty="0"/>
          </a:p>
        </p:txBody>
      </p:sp>
      <p:pic>
        <p:nvPicPr>
          <p:cNvPr id="27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00750" y="4152900"/>
            <a:ext cx="190500" cy="219075"/>
          </a:xfrm>
          <a:prstGeom prst="rect">
            <a:avLst/>
          </a:prstGeom>
        </p:spPr>
      </p:pic>
      <p:pic>
        <p:nvPicPr>
          <p:cNvPr id="28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629400" y="4152900"/>
            <a:ext cx="209550" cy="219075"/>
          </a:xfrm>
          <a:prstGeom prst="rect">
            <a:avLst/>
          </a:prstGeom>
        </p:spPr>
      </p:pic>
      <p:sp>
        <p:nvSpPr>
          <p:cNvPr id="29" name="Text 7"/>
          <p:cNvSpPr/>
          <p:nvPr/>
        </p:nvSpPr>
        <p:spPr>
          <a:xfrm>
            <a:off x="6981825" y="4067919"/>
            <a:ext cx="44481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Passed user namespace in every Java upsert &amp; query call in PineconeClient</a:t>
            </a:r>
            <a:endParaRPr lang="en-US" sz="900" dirty="0"/>
          </a:p>
        </p:txBody>
      </p:sp>
      <p:pic>
        <p:nvPicPr>
          <p:cNvPr id="30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90575" y="4991100"/>
            <a:ext cx="209550" cy="219075"/>
          </a:xfrm>
          <a:prstGeom prst="rect">
            <a:avLst/>
          </a:prstGeom>
        </p:spPr>
      </p:pic>
      <p:sp>
        <p:nvSpPr>
          <p:cNvPr id="31" name="Text 8"/>
          <p:cNvSpPr/>
          <p:nvPr/>
        </p:nvSpPr>
        <p:spPr>
          <a:xfrm>
            <a:off x="1143000" y="4982319"/>
            <a:ext cx="2476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Pinecone Free Tier Batch Limit</a:t>
            </a:r>
            <a:endParaRPr lang="en-US" sz="1100" dirty="0"/>
          </a:p>
        </p:txBody>
      </p:sp>
      <p:pic>
        <p:nvPicPr>
          <p:cNvPr id="32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00750" y="4991100"/>
            <a:ext cx="190500" cy="219075"/>
          </a:xfrm>
          <a:prstGeom prst="rect">
            <a:avLst/>
          </a:prstGeom>
        </p:spPr>
      </p:pic>
      <p:pic>
        <p:nvPicPr>
          <p:cNvPr id="33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629400" y="4991100"/>
            <a:ext cx="209550" cy="219075"/>
          </a:xfrm>
          <a:prstGeom prst="rect">
            <a:avLst/>
          </a:prstGeom>
        </p:spPr>
      </p:pic>
      <p:sp>
        <p:nvSpPr>
          <p:cNvPr id="34" name="Text 9"/>
          <p:cNvSpPr/>
          <p:nvPr/>
        </p:nvSpPr>
        <p:spPr>
          <a:xfrm>
            <a:off x="6981825" y="5001369"/>
            <a:ext cx="4171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Batched upserts in groups of 100 vectors in Java IngestService</a:t>
            </a:r>
            <a:endParaRPr lang="en-US" sz="900" dirty="0"/>
          </a:p>
        </p:txBody>
      </p:sp>
      <p:sp>
        <p:nvSpPr>
          <p:cNvPr id="35" name="Text 10"/>
          <p:cNvSpPr/>
          <p:nvPr/>
        </p:nvSpPr>
        <p:spPr>
          <a:xfrm>
            <a:off x="571500" y="6354663"/>
            <a:ext cx="9115425" cy="217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A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Atharva Abhijeet Mahalkar| Japkeerat Kaur | Prakhar Vishwakarma · Guide: Prof. Suhas Joshi · April 2026</a:t>
            </a:r>
            <a:endParaRPr lang="en-US" sz="1100" dirty="0"/>
          </a:p>
        </p:txBody>
      </p:sp>
      <p:sp>
        <p:nvSpPr>
          <p:cNvPr id="36" name="Text 11"/>
          <p:cNvSpPr/>
          <p:nvPr/>
        </p:nvSpPr>
        <p:spPr>
          <a:xfrm>
            <a:off x="11525250" y="6368207"/>
            <a:ext cx="95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975" y="2133600"/>
            <a:ext cx="5391150" cy="98107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133600"/>
            <a:ext cx="5391150" cy="98107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975" y="3314700"/>
            <a:ext cx="5391150" cy="9715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8875" y="3314700"/>
            <a:ext cx="5391150" cy="9715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975" y="4486275"/>
            <a:ext cx="5391150" cy="98107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8875" y="4486275"/>
            <a:ext cx="5391150" cy="98107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1975" y="6105525"/>
            <a:ext cx="11068050" cy="476250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571500" y="571500"/>
            <a:ext cx="121539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12" name="Text 1"/>
          <p:cNvSpPr/>
          <p:nvPr/>
        </p:nvSpPr>
        <p:spPr>
          <a:xfrm>
            <a:off x="571500" y="1219200"/>
            <a:ext cx="1215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A7282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Strategic Roadmap for System Evolution and Enhanced Capabilities</a:t>
            </a:r>
            <a:endParaRPr lang="en-US" sz="1200" dirty="0"/>
          </a:p>
        </p:txBody>
      </p:sp>
      <p:pic>
        <p:nvPicPr>
          <p:cNvPr id="1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81650" y="2324100"/>
            <a:ext cx="219075" cy="257175"/>
          </a:xfrm>
          <a:prstGeom prst="rect">
            <a:avLst/>
          </a:prstGeom>
        </p:spPr>
      </p:pic>
      <p:sp>
        <p:nvSpPr>
          <p:cNvPr id="14" name="Text 2"/>
          <p:cNvSpPr/>
          <p:nvPr/>
        </p:nvSpPr>
        <p:spPr>
          <a:xfrm>
            <a:off x="762000" y="2376041"/>
            <a:ext cx="46101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Auth + Namespaces</a:t>
            </a:r>
            <a:endParaRPr lang="en-US" sz="1400" dirty="0"/>
          </a:p>
        </p:txBody>
      </p:sp>
      <p:sp>
        <p:nvSpPr>
          <p:cNvPr id="15" name="Text 3"/>
          <p:cNvSpPr/>
          <p:nvPr/>
        </p:nvSpPr>
        <p:spPr>
          <a:xfrm>
            <a:off x="762000" y="2690366"/>
            <a:ext cx="4610100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login in Java — per-user Pinecone namespace, isolated search</a:t>
            </a:r>
            <a:endParaRPr lang="en-US" sz="900" dirty="0"/>
          </a:p>
        </p:txBody>
      </p:sp>
      <p:pic>
        <p:nvPicPr>
          <p:cNvPr id="1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29975" y="2324100"/>
            <a:ext cx="247650" cy="257175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6438900" y="2376041"/>
            <a:ext cx="46101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&amp; DOCX Parsing</a:t>
            </a:r>
            <a:endParaRPr lang="en-US" sz="1400" dirty="0"/>
          </a:p>
        </p:txBody>
      </p:sp>
      <p:sp>
        <p:nvSpPr>
          <p:cNvPr id="18" name="Text 5"/>
          <p:cNvSpPr/>
          <p:nvPr/>
        </p:nvSpPr>
        <p:spPr>
          <a:xfrm>
            <a:off x="6438900" y="2690366"/>
            <a:ext cx="4610100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PDFBox + Apache POI for Java-native document parsing</a:t>
            </a:r>
            <a:endParaRPr lang="en-US" sz="900" dirty="0"/>
          </a:p>
        </p:txBody>
      </p:sp>
      <p:pic>
        <p:nvPicPr>
          <p:cNvPr id="1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24500" y="3505200"/>
            <a:ext cx="276225" cy="257175"/>
          </a:xfrm>
          <a:prstGeom prst="rect">
            <a:avLst/>
          </a:prstGeom>
        </p:spPr>
      </p:pic>
      <p:sp>
        <p:nvSpPr>
          <p:cNvPr id="20" name="Text 6"/>
          <p:cNvSpPr/>
          <p:nvPr/>
        </p:nvSpPr>
        <p:spPr>
          <a:xfrm>
            <a:off x="762000" y="3554760"/>
            <a:ext cx="46101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Risk Scoring</a:t>
            </a:r>
            <a:endParaRPr lang="en-US" sz="1400" dirty="0"/>
          </a:p>
        </p:txBody>
      </p:sp>
      <p:sp>
        <p:nvSpPr>
          <p:cNvPr id="21" name="Text 7"/>
          <p:cNvSpPr/>
          <p:nvPr/>
        </p:nvSpPr>
        <p:spPr>
          <a:xfrm>
            <a:off x="762000" y="3869085"/>
            <a:ext cx="4610100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 generates 0–100 risk score per contract in Java</a:t>
            </a:r>
            <a:endParaRPr lang="en-US" sz="900" dirty="0"/>
          </a:p>
        </p:txBody>
      </p:sp>
      <p:pic>
        <p:nvPicPr>
          <p:cNvPr id="2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229975" y="3505200"/>
            <a:ext cx="247650" cy="257175"/>
          </a:xfrm>
          <a:prstGeom prst="rect">
            <a:avLst/>
          </a:prstGeom>
        </p:spPr>
      </p:pic>
      <p:sp>
        <p:nvSpPr>
          <p:cNvPr id="23" name="Text 8"/>
          <p:cNvSpPr/>
          <p:nvPr/>
        </p:nvSpPr>
        <p:spPr>
          <a:xfrm>
            <a:off x="6438900" y="3554760"/>
            <a:ext cx="46101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Multi-model Support</a:t>
            </a:r>
            <a:endParaRPr lang="en-US" sz="1400" dirty="0"/>
          </a:p>
        </p:txBody>
      </p:sp>
      <p:sp>
        <p:nvSpPr>
          <p:cNvPr id="24" name="Text 9"/>
          <p:cNvSpPr/>
          <p:nvPr/>
        </p:nvSpPr>
        <p:spPr>
          <a:xfrm>
            <a:off x="6438900" y="3869085"/>
            <a:ext cx="4610100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Qwen model via config.properties — no code change</a:t>
            </a:r>
            <a:endParaRPr lang="en-US" sz="900" dirty="0"/>
          </a:p>
        </p:txBody>
      </p:sp>
      <p:pic>
        <p:nvPicPr>
          <p:cNvPr id="2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95925" y="4676775"/>
            <a:ext cx="304800" cy="257175"/>
          </a:xfrm>
          <a:prstGeom prst="rect">
            <a:avLst/>
          </a:prstGeom>
        </p:spPr>
      </p:pic>
      <p:sp>
        <p:nvSpPr>
          <p:cNvPr id="26" name="Text 10"/>
          <p:cNvSpPr/>
          <p:nvPr/>
        </p:nvSpPr>
        <p:spPr>
          <a:xfrm>
            <a:off x="762000" y="4733479"/>
            <a:ext cx="46101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/ Cloud Deploy</a:t>
            </a:r>
            <a:endParaRPr lang="en-US" sz="1400" dirty="0"/>
          </a:p>
        </p:txBody>
      </p:sp>
      <p:sp>
        <p:nvSpPr>
          <p:cNvPr id="27" name="Text 11"/>
          <p:cNvSpPr/>
          <p:nvPr/>
        </p:nvSpPr>
        <p:spPr>
          <a:xfrm>
            <a:off x="762000" y="5047804"/>
            <a:ext cx="4610100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container on AWS/GCP — GPU Ollama + Pinecone prod tier</a:t>
            </a:r>
            <a:endParaRPr lang="en-US" sz="900" dirty="0"/>
          </a:p>
        </p:txBody>
      </p:sp>
      <p:pic>
        <p:nvPicPr>
          <p:cNvPr id="2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229975" y="4676775"/>
            <a:ext cx="247650" cy="257175"/>
          </a:xfrm>
          <a:prstGeom prst="rect">
            <a:avLst/>
          </a:prstGeom>
        </p:spPr>
      </p:pic>
      <p:sp>
        <p:nvSpPr>
          <p:cNvPr id="29" name="Text 12"/>
          <p:cNvSpPr/>
          <p:nvPr/>
        </p:nvSpPr>
        <p:spPr>
          <a:xfrm>
            <a:off x="6438900" y="4733479"/>
            <a:ext cx="46101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Fine-tuned Qwen</a:t>
            </a:r>
            <a:endParaRPr lang="en-US" sz="1400" dirty="0"/>
          </a:p>
        </p:txBody>
      </p:sp>
      <p:sp>
        <p:nvSpPr>
          <p:cNvPr id="30" name="Text 13"/>
          <p:cNvSpPr/>
          <p:nvPr/>
        </p:nvSpPr>
        <p:spPr>
          <a:xfrm>
            <a:off x="6438900" y="5047804"/>
            <a:ext cx="4610100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 on legal/procurement text for higher clause accuracy</a:t>
            </a:r>
            <a:endParaRPr lang="en-US" sz="900" dirty="0"/>
          </a:p>
        </p:txBody>
      </p:sp>
      <p:sp>
        <p:nvSpPr>
          <p:cNvPr id="31" name="Text 14"/>
          <p:cNvSpPr/>
          <p:nvPr/>
        </p:nvSpPr>
        <p:spPr>
          <a:xfrm>
            <a:off x="571500" y="6354663"/>
            <a:ext cx="9115425" cy="217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A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Atharva Abhijeet Mahalkar| Japkeerat Kaur | Prakhar Vishwakarma · Guide: Prof. Suhas Joshi · April 2026</a:t>
            </a:r>
            <a:endParaRPr lang="en-US" sz="1100" dirty="0"/>
          </a:p>
        </p:txBody>
      </p:sp>
      <p:sp>
        <p:nvSpPr>
          <p:cNvPr id="32" name="Text 15"/>
          <p:cNvSpPr/>
          <p:nvPr/>
        </p:nvSpPr>
        <p:spPr>
          <a:xfrm>
            <a:off x="11496675" y="6368207"/>
            <a:ext cx="123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400" y="1438275"/>
            <a:ext cx="9601200" cy="96202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3975" y="2790825"/>
            <a:ext cx="9544050" cy="56197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8275" y="2905125"/>
            <a:ext cx="323850" cy="33337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3975" y="3400425"/>
            <a:ext cx="9544050" cy="56197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38275" y="3514725"/>
            <a:ext cx="323850" cy="33337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3975" y="4010025"/>
            <a:ext cx="9544050" cy="56197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38275" y="4124325"/>
            <a:ext cx="323850" cy="333375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23975" y="4619625"/>
            <a:ext cx="9544050" cy="561975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438275" y="4733925"/>
            <a:ext cx="323850" cy="333375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1975" y="6105525"/>
            <a:ext cx="11068050" cy="47625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1975" y="371475"/>
            <a:ext cx="781050" cy="781050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571500" y="571500"/>
            <a:ext cx="121539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17" name="Text 1"/>
          <p:cNvSpPr/>
          <p:nvPr/>
        </p:nvSpPr>
        <p:spPr>
          <a:xfrm>
            <a:off x="1524000" y="1636663"/>
            <a:ext cx="918210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Ledger is a 100% Java application — the RAG pipeline calls Ollama and Pinecone directly via HTTP, with no Python or external scripting layer required.</a:t>
            </a:r>
            <a:endParaRPr lang="en-US" sz="1200" dirty="0"/>
          </a:p>
        </p:txBody>
      </p:sp>
      <p:sp>
        <p:nvSpPr>
          <p:cNvPr id="18" name="Text 2"/>
          <p:cNvSpPr/>
          <p:nvPr/>
        </p:nvSpPr>
        <p:spPr>
          <a:xfrm>
            <a:off x="1333500" y="2460575"/>
            <a:ext cx="10477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95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Key Achievements:</a:t>
            </a:r>
            <a:endParaRPr lang="en-US" sz="1400" dirty="0"/>
          </a:p>
        </p:txBody>
      </p:sp>
      <p:pic>
        <p:nvPicPr>
          <p:cNvPr id="1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33525" y="2990850"/>
            <a:ext cx="133350" cy="161925"/>
          </a:xfrm>
          <a:prstGeom prst="rect">
            <a:avLst/>
          </a:prstGeom>
        </p:spPr>
      </p:pic>
      <p:sp>
        <p:nvSpPr>
          <p:cNvPr id="20" name="Text 3"/>
          <p:cNvSpPr/>
          <p:nvPr/>
        </p:nvSpPr>
        <p:spPr>
          <a:xfrm>
            <a:off x="1866900" y="2936825"/>
            <a:ext cx="7067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Java RAG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OllamaClient.java &amp; PineconeClient.java handle all AI HTTP calls</a:t>
            </a:r>
            <a:endParaRPr lang="en-US" sz="1200" dirty="0"/>
          </a:p>
        </p:txBody>
      </p:sp>
      <p:pic>
        <p:nvPicPr>
          <p:cNvPr id="2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33525" y="3600450"/>
            <a:ext cx="133350" cy="161925"/>
          </a:xfrm>
          <a:prstGeom prst="rect">
            <a:avLst/>
          </a:prstGeom>
        </p:spPr>
      </p:pic>
      <p:sp>
        <p:nvSpPr>
          <p:cNvPr id="22" name="Text 4"/>
          <p:cNvSpPr/>
          <p:nvPr/>
        </p:nvSpPr>
        <p:spPr>
          <a:xfrm>
            <a:off x="1866900" y="3546425"/>
            <a:ext cx="6753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Qwen:0.5B via Ollama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local LLM, CPU-only, ~1.2GB RAM, 2–5s response time</a:t>
            </a:r>
            <a:endParaRPr lang="en-US" sz="1200" dirty="0"/>
          </a:p>
        </p:txBody>
      </p:sp>
      <p:pic>
        <p:nvPicPr>
          <p:cNvPr id="23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33525" y="4210050"/>
            <a:ext cx="133350" cy="161925"/>
          </a:xfrm>
          <a:prstGeom prst="rect">
            <a:avLst/>
          </a:prstGeom>
        </p:spPr>
      </p:pic>
      <p:sp>
        <p:nvSpPr>
          <p:cNvPr id="24" name="Text 5"/>
          <p:cNvSpPr/>
          <p:nvPr/>
        </p:nvSpPr>
        <p:spPr>
          <a:xfrm>
            <a:off x="1866900" y="4156025"/>
            <a:ext cx="7058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Pinecone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768-dim cosine vector DB, per-user namespaces, sub-100ms retrieval</a:t>
            </a:r>
            <a:endParaRPr lang="en-US" sz="1200" dirty="0"/>
          </a:p>
        </p:txBody>
      </p:sp>
      <p:pic>
        <p:nvPicPr>
          <p:cNvPr id="25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33525" y="4819650"/>
            <a:ext cx="133350" cy="161925"/>
          </a:xfrm>
          <a:prstGeom prst="rect">
            <a:avLst/>
          </a:prstGeom>
        </p:spPr>
      </p:pic>
      <p:sp>
        <p:nvSpPr>
          <p:cNvPr id="26" name="Text 6"/>
          <p:cNvSpPr/>
          <p:nvPr/>
        </p:nvSpPr>
        <p:spPr>
          <a:xfrm>
            <a:off x="1866900" y="4765625"/>
            <a:ext cx="7572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15</a:t>
            </a:r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vendor &amp; document data via JDBC; full CRUD with referential integrity</a:t>
            </a:r>
            <a:endParaRPr lang="en-US" sz="1200" dirty="0"/>
          </a:p>
        </p:txBody>
      </p:sp>
      <p:sp>
        <p:nvSpPr>
          <p:cNvPr id="27" name="Text 7"/>
          <p:cNvSpPr/>
          <p:nvPr/>
        </p:nvSpPr>
        <p:spPr>
          <a:xfrm>
            <a:off x="1333500" y="5432375"/>
            <a:ext cx="1047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195FF"/>
                </a:solidFill>
                <a:latin typeface="Arial Rounded MT Bold" pitchFamily="34" charset="0"/>
                <a:ea typeface="Arial Rounded MT Bold" pitchFamily="34" charset="-122"/>
                <a:cs typeface="Arial Rounded MT Bold" pitchFamily="34" charset="-120"/>
              </a:rPr>
              <a:t>Thank You · Questions Welcome</a:t>
            </a:r>
            <a:endParaRPr lang="en-US" sz="2000" dirty="0"/>
          </a:p>
        </p:txBody>
      </p:sp>
      <p:sp>
        <p:nvSpPr>
          <p:cNvPr id="28" name="Text 8"/>
          <p:cNvSpPr/>
          <p:nvPr/>
        </p:nvSpPr>
        <p:spPr>
          <a:xfrm>
            <a:off x="571500" y="6354663"/>
            <a:ext cx="9115425" cy="217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A7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Team: Atharva Abhijeet Mahalkar| Japkeerat Kaur | Prakhar Vishwakarma · Guide: Prof. Suhas Joshi · April 2026</a:t>
            </a:r>
            <a:endParaRPr lang="en-US" sz="1100" dirty="0"/>
          </a:p>
        </p:txBody>
      </p:sp>
      <p:sp>
        <p:nvSpPr>
          <p:cNvPr id="29" name="Text 9"/>
          <p:cNvSpPr/>
          <p:nvPr/>
        </p:nvSpPr>
        <p:spPr>
          <a:xfrm>
            <a:off x="11496675" y="6368207"/>
            <a:ext cx="123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A1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dokie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>dokie</dc:creator>
  <cp:lastModifiedBy>dokie</cp:lastModifiedBy>
  <cp:revision>1</cp:revision>
  <dcterms:created xsi:type="dcterms:W3CDTF">2026-04-20T09:26:34Z</dcterms:created>
  <dcterms:modified xsi:type="dcterms:W3CDTF">2026-04-20T09:26:34Z</dcterms:modified>
</cp:coreProperties>
</file>